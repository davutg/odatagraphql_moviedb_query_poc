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09740e4bc84746" /><Relationship Type="http://schemas.openxmlformats.org/officeDocument/2006/relationships/extended-properties" Target="/docProps/app.xml" Id="R02f96f63a96b4ea4" /><Relationship Type="http://schemas.openxmlformats.org/officeDocument/2006/relationships/officeDocument" Target="/ppt/presentation.xml" Id="Rcfcecc7d18c8490e" /></Relationships>
</file>

<file path=ppt/presentation.xml><?xml version="1.0" encoding="utf-8"?>
<p:presentation xmlns:p="http://schemas.openxmlformats.org/presentationml/2006/main">
  <p:sldMasterIdLst>
    <p:sldMasterId xmlns:r="http://schemas.openxmlformats.org/officeDocument/2006/relationships" id="2147483648" r:id="Rcee1df35699341ec"/>
  </p:sldMasterIdLst>
  <p:notesMasterIdLst>
    <p:notesMasterId xmlns:r="http://schemas.openxmlformats.org/officeDocument/2006/relationships" r:id="R99a09ed6cf094858"/>
  </p:notesMasterIdLst>
  <p:sldIdLst>
    <p:sldId xmlns:r="http://schemas.openxmlformats.org/officeDocument/2006/relationships" id="256" r:id="R84eb6864906a4f00"/>
    <p:sldId xmlns:r="http://schemas.openxmlformats.org/officeDocument/2006/relationships" id="257" r:id="Rce2583df4f444197"/>
    <p:sldId xmlns:r="http://schemas.openxmlformats.org/officeDocument/2006/relationships" id="258" r:id="R1f6e5a812cee43af"/>
    <p:sldId xmlns:r="http://schemas.openxmlformats.org/officeDocument/2006/relationships" id="259" r:id="R6669105d25364bbb"/>
    <p:sldId xmlns:r="http://schemas.openxmlformats.org/officeDocument/2006/relationships" id="260" r:id="R8fcee68c505f4ca4"/>
    <p:sldId xmlns:r="http://schemas.openxmlformats.org/officeDocument/2006/relationships" id="261" r:id="Rbcbf02d8fe164189"/>
    <p:sldId xmlns:r="http://schemas.openxmlformats.org/officeDocument/2006/relationships" id="262" r:id="Ra14158f2bb2d44db"/>
    <p:sldId xmlns:r="http://schemas.openxmlformats.org/officeDocument/2006/relationships" id="263" r:id="R1fec227fd1bc4a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fe3473cb62456c" /><Relationship Type="http://schemas.openxmlformats.org/officeDocument/2006/relationships/slideMaster" Target="/ppt/slideMasters/slideMaster1.xml" Id="Rcee1df35699341ec" /><Relationship Type="http://schemas.openxmlformats.org/officeDocument/2006/relationships/notesMaster" Target="/ppt/notesMasters/notesMaster1.xml" Id="R99a09ed6cf094858" /><Relationship Type="http://schemas.openxmlformats.org/officeDocument/2006/relationships/presProps" Target="/ppt/presProps.xml" Id="R62482c7945aa4a25" /><Relationship Type="http://schemas.openxmlformats.org/officeDocument/2006/relationships/tableStyles" Target="/ppt/tableStyles.xml" Id="Rcfaacbdff5be4fc9" /><Relationship Type="http://schemas.openxmlformats.org/officeDocument/2006/relationships/slide" Target="/ppt/slides/slide1.xml" Id="R84eb6864906a4f00" /><Relationship Type="http://schemas.openxmlformats.org/officeDocument/2006/relationships/slide" Target="/ppt/slides/slide2.xml" Id="Rce2583df4f444197" /><Relationship Type="http://schemas.openxmlformats.org/officeDocument/2006/relationships/slide" Target="/ppt/slides/slide3.xml" Id="R1f6e5a812cee43af" /><Relationship Type="http://schemas.openxmlformats.org/officeDocument/2006/relationships/slide" Target="/ppt/slides/slide4.xml" Id="R6669105d25364bbb" /><Relationship Type="http://schemas.openxmlformats.org/officeDocument/2006/relationships/slide" Target="/ppt/slides/slide5.xml" Id="R8fcee68c505f4ca4" /><Relationship Type="http://schemas.openxmlformats.org/officeDocument/2006/relationships/slide" Target="/ppt/slides/slide6.xml" Id="Rbcbf02d8fe164189" /><Relationship Type="http://schemas.openxmlformats.org/officeDocument/2006/relationships/slide" Target="/ppt/slides/slide7.xml" Id="Ra14158f2bb2d44db" /><Relationship Type="http://schemas.openxmlformats.org/officeDocument/2006/relationships/slide" Target="/ppt/slides/slide8.xml" Id="R1fec227fd1bc4a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4673807e374f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b377d75da14fbc" /><Relationship Type="http://schemas.openxmlformats.org/officeDocument/2006/relationships/notesMaster" Target="/ppt/notesMasters/notesMaster1.xml" Id="R40bb10e36f0846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b214b43c274422" /><Relationship Type="http://schemas.openxmlformats.org/officeDocument/2006/relationships/notesMaster" Target="/ppt/notesMasters/notesMaster1.xml" Id="R003d8ca5080840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5b564bc5f04095" /><Relationship Type="http://schemas.openxmlformats.org/officeDocument/2006/relationships/notesMaster" Target="/ppt/notesMasters/notesMaster1.xml" Id="R8fbacc4b7be943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ca8c3f617b42ba" /><Relationship Type="http://schemas.openxmlformats.org/officeDocument/2006/relationships/notesMaster" Target="/ppt/notesMasters/notesMaster1.xml" Id="R36e67aeea50b48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b64c3f5d5a4a95" /><Relationship Type="http://schemas.openxmlformats.org/officeDocument/2006/relationships/notesMaster" Target="/ppt/notesMasters/notesMaster1.xml" Id="R25045b037b704a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88969e57074d41" /><Relationship Type="http://schemas.openxmlformats.org/officeDocument/2006/relationships/notesMaster" Target="/ppt/notesMasters/notesMaster1.xml" Id="R9b7c7ee509a04a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381b287a6541cf" /><Relationship Type="http://schemas.openxmlformats.org/officeDocument/2006/relationships/notesMaster" Target="/ppt/notesMasters/notesMaster1.xml" Id="R16b700461b1246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7cb86d96ca4bb4" /><Relationship Type="http://schemas.openxmlformats.org/officeDocument/2006/relationships/notesMaster" Target="/ppt/notesMasters/notesMaster1.xml" Id="R794dc90e72a242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implementation: /Users/davutgurbuz/Documents/Codex/movie-query-poc/docs/architecture-and-user-guide.md and docs/developer-implementation-guide.md. This presentation explains the current POC and its design benefits, rather than measured production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Concerns only. These are design risks, not a claim that every API in this POC already exhibits them. Long queries include broad counts and joins. Similar APIs may duplicate filtering, pagination, SQL construction and protection logic. More endpoints alone do not fix resource consumption.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implementation: /Users/davutgurbuz/Documents/Codex/movie-query-poc/query-core/src/main/java/dev/poc/core/ and app-java17/src/main/java/dev/poc/. Request flow runs UI, gate, adapter, guarded JDBC, PostgreSQL. The core has no framework imports and receives normalized policy inputs and estimated plan descriptors. Java 8 has a compatibility adapter. Java 21 shares modern Java 17 sources and compiles a separate artifact.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implementation: /Users/davutgurbuz/Documents/Codex/movie-query-poc/query-core/src/main/java/dev/poc/core/Limits.java, QueryPolicy.java, IndexPolicyEvaluator.java, CursorCodec.java; app-java17/src/main/java/dev/poc/GuardedDataSource.java, RequestGate.java and GraphqlConfig.java. Defaults shown. Core validates/stores timeout, rate and concurrency settings, but adapters execute those controls. Max top 500, default 100, server page 50. Cost threshold rejects strictly greater than 100000. Sequential scans reject at estimated table rows &gt;=10000, including unknown estimates. Counts pass through the same JDBC inspection. OData syntax depth and GraphQL structural depth are different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implementation: /Users/davutgurbuz/Documents/Codex/movie-query-poc/query-core/pom.xml and src/main/java/dev/poc/core/. The Java 8-targeted core has no Spring, JDBC, GraphQL or JPA dependencies. Standalone use means importing its contracts and invoking them from an adapter. It does not parse arbitrary queries, acquire connections, run EXPLAIN or cancel database statements. Core cursor codec can be reused by a custom endpoint. Authentication and tenant authorization remain application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implementation: /Users/davutgurbuz/Documents/Codex/movie-query-poc/app-java17/src/main/java/dev/poc/ODataPolicy.java, ODataController.java, ODataPaging.java and JpaConfig.java. OData offers a standard query contract and metadata. In this POC, SAP/Olingo and EclipseLink own parsing and generated SQL after restricted normalization. Native $select and singular $expand are supported. Internal paging count is guarded even without $count=true. OData is not automatically a protection mechanism. Saved skiptoken state is process-local.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implementation: /Users/davutgurbuz/Documents/Codex/movie-query-poc/app-java17/src/main/resources/graphql/schema.graphqls; GraphqlConfig.java and MovieGraphql.java. Clients choose schema fields and optional relationships in one query. The resolver uses fixed SQL mappings and parameter binding. Director selection triggers one join rather than one query per movie, and totalCount runs only if requested. Selecting fewer scalar fields reduces the response payload but current resolver still selects all movie scalar database columns. Aliases/fragments contribute to complexity. Introspection is disabled in this POC.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implementation: /Users/davutgurbuz/Documents/Codex/movie-query-poc/docs/java-versions.md, docs/java-version-test-summary.json and scripts/smoke-matrix.py. Recorded checks cover actual Java 8/17/21 JVMs, indexed acceptance, unindexed enforcement rejection and 75-result pagination as 50+25. These demonstrate behavior, not a measured production performance gain. OFF skips inspection, AUDIT reports and permits, ENFORCE blocks rejected/unverifiable plans. Authentication, tenant authorization and distributed stores are outside current POC scope. EXPLAIN cost is an estimate and not a latency guarantee. Stable signing keys can share GraphQL cursor verification, while OData paging remains process-local.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01cede167840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9b02b1892347c9" /><Relationship Type="http://schemas.openxmlformats.org/officeDocument/2006/relationships/slideLayout" Target="/ppt/slideLayouts/slideLayout1.xml" Id="Rb36fc18f08fd45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6fc18f08fd45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4b8678d59246f0" /><Relationship Type="http://schemas.openxmlformats.org/officeDocument/2006/relationships/notesSlide" Target="/ppt/notesSlides/notesSlide1.xml" Id="R0078f65381d841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92fde212c449fe" /><Relationship Type="http://schemas.openxmlformats.org/officeDocument/2006/relationships/notesSlide" Target="/ppt/notesSlides/notesSlide2.xml" Id="Rfcc0600e696740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77dc959847e4392" /><Relationship Type="http://schemas.openxmlformats.org/officeDocument/2006/relationships/notesSlide" Target="/ppt/notesSlides/notesSlide3.xml" Id="Rdfa281f7b14a4f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fc9d49e4dfd48f4" /><Relationship Type="http://schemas.openxmlformats.org/officeDocument/2006/relationships/notesSlide" Target="/ppt/notesSlides/notesSlide4.xml" Id="R8729c308e71342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b638c91ceef4333" /><Relationship Type="http://schemas.openxmlformats.org/officeDocument/2006/relationships/notesSlide" Target="/ppt/notesSlides/notesSlide5.xml" Id="R45d796c1408a47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dc701b3fda04320" /><Relationship Type="http://schemas.openxmlformats.org/officeDocument/2006/relationships/notesSlide" Target="/ppt/notesSlides/notesSlide6.xml" Id="Re74fd44b18e34c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118d1917dca4fa2" /><Relationship Type="http://schemas.openxmlformats.org/officeDocument/2006/relationships/notesSlide" Target="/ppt/notesSlides/notesSlide7.xml" Id="R8af252f9d1d245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e4b20f8d5a4a5f" /><Relationship Type="http://schemas.openxmlformats.org/officeDocument/2006/relationships/notesSlide" Target="/ppt/notesSlides/notesSlide8.xml" Id="Rc8919a4835984c30" /></Relationships>
</file>

<file path=ppt/slides/slide1.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13C542-D54B-4EF6-93CD-34A5C33CC95B}"/>
              </a:ext>
            </a:extLst>
          </p:cNvPr>
          <p:cNvSpPr>
            <a:spLocks xmlns:a="http://schemas.openxmlformats.org/drawingml/2006/main" noGrp="1"/>
          </p:cNvSpPr>
          <p:nvPr/>
        </p:nvSpPr>
        <p:spPr>
          <a:xfrm xmlns:a="http://schemas.openxmlformats.org/drawingml/2006/main">
            <a:off x="609600" y="3810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03D"/>
                </a:solidFill>
                <a:latin typeface="Helvetica Neue"/>
                <a:ea typeface="Helvetica Neue"/>
                <a:cs typeface="Helvetica Neue"/>
              </a:defRPr>
            </a:pPr>
            <a:r>
              <a:rPr sz="3300" b="1">
                <a:solidFill>
                  <a:srgbClr val="18303D"/>
                </a:solidFill>
                <a:latin typeface="Helvetica Neue"/>
                <a:ea typeface="Helvetica Neue"/>
                <a:cs typeface="Helvetica Neue"/>
              </a:rPr>
              <a:t>Movie Query POC</a:t>
            </a:r>
          </a:p>
        </p:txBody>
      </p:sp>
      <p:sp>
        <p:nvSpPr>
          <p:cNvPr id="2" name="">
            <a:extLst xmlns:a="http://schemas.openxmlformats.org/drawingml/2006/main">
              <a:ext uri="{FF2B5EF4-FFF2-40B4-BE49-F238E27FC236}">
                <a16:creationId xmlns:a16="http://schemas.microsoft.com/office/drawing/2014/main" id="{1C21AC97-F6B9-40E3-B983-E897F2377AC3}"/>
              </a:ext>
            </a:extLst>
          </p:cNvPr>
          <p:cNvSpPr>
            <a:spLocks xmlns:a="http://schemas.openxmlformats.org/drawingml/2006/main" noGrp="1"/>
          </p:cNvSpPr>
          <p:nvPr/>
        </p:nvSpPr>
        <p:spPr>
          <a:xfrm xmlns:a="http://schemas.openxmlformats.org/drawingml/2006/main">
            <a:off x="11144250"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6"/>
                </a:solidFill>
                <a:latin typeface="Helvetica Neue"/>
                <a:ea typeface="Helvetica Neue"/>
                <a:cs typeface="Helvetica Neue"/>
              </a:defRPr>
            </a:pPr>
            <a:r>
              <a:rPr sz="1350" b="0">
                <a:solidFill>
                  <a:srgbClr val="516776"/>
                </a:solidFill>
                <a:latin typeface="Helvetica Neue"/>
                <a:ea typeface="Helvetica Neue"/>
                <a:cs typeface="Helvetica Neue"/>
              </a:rPr>
              <a:t>1</a:t>
            </a:r>
          </a:p>
        </p:txBody>
      </p:sp>
      <p:sp>
        <p:nvSpPr>
          <p:cNvPr id="3" name="">
            <a:extLst xmlns:a="http://schemas.openxmlformats.org/drawingml/2006/main">
              <a:ext uri="{FF2B5EF4-FFF2-40B4-BE49-F238E27FC236}">
                <a16:creationId xmlns:a16="http://schemas.microsoft.com/office/drawing/2014/main" id="{97B9F0D5-59EA-4C7A-AE78-C49EF2823DD9}"/>
              </a:ext>
            </a:extLst>
          </p:cNvPr>
          <p:cNvSpPr>
            <a:spLocks xmlns:a="http://schemas.openxmlformats.org/drawingml/2006/main" noGrp="1"/>
          </p:cNvSpPr>
          <p:nvPr/>
        </p:nvSpPr>
        <p:spPr>
          <a:xfrm xmlns:a="http://schemas.openxmlformats.org/drawingml/2006/main">
            <a:off x="609600" y="1943100"/>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8303D"/>
                </a:solidFill>
                <a:latin typeface="Helvetica Neue"/>
                <a:ea typeface="Helvetica Neue"/>
                <a:cs typeface="Helvetica Neue"/>
              </a:defRPr>
            </a:pPr>
            <a:r>
              <a:rPr sz="4800" b="1">
                <a:solidFill>
                  <a:srgbClr val="18303D"/>
                </a:solidFill>
                <a:latin typeface="Helvetica Neue"/>
                <a:ea typeface="Helvetica Neue"/>
                <a:cs typeface="Helvetica Neue"/>
              </a:rPr>
              <a:t>Shared query safeguards</a:t>
            </a:r>
          </a:p>
          <a:p xmlns:a="http://schemas.openxmlformats.org/drawingml/2006/main">
            <a:pPr>
              <a:defRPr sz="4800" b="1">
                <a:solidFill>
                  <a:srgbClr val="18303D"/>
                </a:solidFill>
                <a:latin typeface="Helvetica Neue"/>
                <a:ea typeface="Helvetica Neue"/>
                <a:cs typeface="Helvetica Neue"/>
              </a:defRPr>
            </a:pPr>
            <a:r>
              <a:rPr sz="4800" b="1">
                <a:solidFill>
                  <a:srgbClr val="18303D"/>
                </a:solidFill>
                <a:latin typeface="Helvetica Neue"/>
                <a:ea typeface="Helvetica Neue"/>
                <a:cs typeface="Helvetica Neue"/>
              </a:rPr>
              <a:t>for OData and GraphQL</a:t>
            </a:r>
          </a:p>
        </p:txBody>
      </p:sp>
      <p:sp>
        <p:nvSpPr>
          <p:cNvPr id="4" name="">
            <a:extLst xmlns:a="http://schemas.openxmlformats.org/drawingml/2006/main">
              <a:ext uri="{FF2B5EF4-FFF2-40B4-BE49-F238E27FC236}">
                <a16:creationId xmlns:a16="http://schemas.microsoft.com/office/drawing/2014/main" id="{6EABB71E-1D1C-465E-BABF-7DFC034B5C4D}"/>
              </a:ext>
            </a:extLst>
          </p:cNvPr>
          <p:cNvSpPr>
            <a:spLocks xmlns:a="http://schemas.openxmlformats.org/drawingml/2006/main" noGrp="1"/>
          </p:cNvSpPr>
          <p:nvPr/>
        </p:nvSpPr>
        <p:spPr>
          <a:xfrm xmlns:a="http://schemas.openxmlformats.org/drawingml/2006/main">
            <a:off x="609600" y="4476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16776"/>
                </a:solidFill>
                <a:latin typeface="Helvetica Neue"/>
                <a:ea typeface="Helvetica Neue"/>
                <a:cs typeface="Helvetica Neue"/>
              </a:defRPr>
            </a:pPr>
            <a:r>
              <a:rPr sz="2250" b="0">
                <a:solidFill>
                  <a:srgbClr val="516776"/>
                </a:solidFill>
                <a:latin typeface="Helvetica Neue"/>
                <a:ea typeface="Helvetica Neue"/>
                <a:cs typeface="Helvetica Neue"/>
              </a:rPr>
              <a:t>Architecture, reuse, and database protection</a:t>
            </a:r>
          </a:p>
        </p:txBody>
      </p:sp>
      <p:sp>
        <p:nvSpPr>
          <p:cNvPr id="5" name="">
            <a:extLst xmlns:a="http://schemas.openxmlformats.org/drawingml/2006/main">
              <a:ext uri="{FF2B5EF4-FFF2-40B4-BE49-F238E27FC236}">
                <a16:creationId xmlns:a16="http://schemas.microsoft.com/office/drawing/2014/main" id="{47A57D4B-6D62-48BD-88FB-5F264DAED256}"/>
              </a:ext>
            </a:extLst>
          </p:cNvPr>
          <p:cNvSpPr>
            <a:spLocks xmlns:a="http://schemas.openxmlformats.org/drawingml/2006/main" noGrp="1"/>
          </p:cNvSpPr>
          <p:nvPr/>
        </p:nvSpPr>
        <p:spPr>
          <a:xfrm xmlns:a="http://schemas.openxmlformats.org/drawingml/2006/main">
            <a:off x="609600" y="52197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087F83"/>
                </a:solidFill>
                <a:latin typeface="Helvetica Neue"/>
                <a:ea typeface="Helvetica Neue"/>
                <a:cs typeface="Helvetica Neue"/>
              </a:defRPr>
            </a:pPr>
            <a:r>
              <a:rPr sz="2025" b="0">
                <a:solidFill>
                  <a:srgbClr val="087F83"/>
                </a:solidFill>
                <a:latin typeface="Helvetica Neue"/>
                <a:ea typeface="Helvetica Neue"/>
                <a:cs typeface="Helvetica Neue"/>
              </a:rPr>
              <a:t>Java 8, 17, and 21 implementations</a:t>
            </a:r>
          </a:p>
        </p:txBody>
      </p:sp>
    </p:spTree>
    <p:extLst>
      <p:ext uri="{BB962C8B-B14F-4D97-AF65-F5344CB8AC3E}">
        <p14:creationId xmlns:p14="http://schemas.microsoft.com/office/powerpoint/2010/main" val="2019467681"/>
      </p:ext>
    </p:extLst>
  </p:cSld>
</p:sld>
</file>

<file path=ppt/slides/slide2.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D21365A-277F-4476-97F8-6A7E5DFC1EE9}"/>
              </a:ext>
            </a:extLst>
          </p:cNvPr>
          <p:cNvSpPr>
            <a:spLocks xmlns:a="http://schemas.openxmlformats.org/drawingml/2006/main" noGrp="1"/>
          </p:cNvSpPr>
          <p:nvPr/>
        </p:nvSpPr>
        <p:spPr>
          <a:xfrm xmlns:a="http://schemas.openxmlformats.org/drawingml/2006/main">
            <a:off x="609600" y="3810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03D"/>
                </a:solidFill>
                <a:latin typeface="Helvetica Neue"/>
                <a:ea typeface="Helvetica Neue"/>
                <a:cs typeface="Helvetica Neue"/>
              </a:defRPr>
            </a:pPr>
            <a:r>
              <a:rPr sz="3300" b="1">
                <a:solidFill>
                  <a:srgbClr val="18303D"/>
                </a:solidFill>
                <a:latin typeface="Helvetica Neue"/>
                <a:ea typeface="Helvetica Neue"/>
                <a:cs typeface="Helvetica Neue"/>
              </a:rPr>
              <a:t>Concerns</a:t>
            </a:r>
          </a:p>
        </p:txBody>
      </p:sp>
      <p:sp>
        <p:nvSpPr>
          <p:cNvPr id="2" name="">
            <a:extLst xmlns:a="http://schemas.openxmlformats.org/drawingml/2006/main">
              <a:ext uri="{FF2B5EF4-FFF2-40B4-BE49-F238E27FC236}">
                <a16:creationId xmlns:a16="http://schemas.microsoft.com/office/drawing/2014/main" id="{3BFF36DF-FC2E-4774-B145-1F0059C9E6EA}"/>
              </a:ext>
            </a:extLst>
          </p:cNvPr>
          <p:cNvSpPr>
            <a:spLocks xmlns:a="http://schemas.openxmlformats.org/drawingml/2006/main" noGrp="1"/>
          </p:cNvSpPr>
          <p:nvPr/>
        </p:nvSpPr>
        <p:spPr>
          <a:xfrm xmlns:a="http://schemas.openxmlformats.org/drawingml/2006/main">
            <a:off x="11144250"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6"/>
                </a:solidFill>
                <a:latin typeface="Helvetica Neue"/>
                <a:ea typeface="Helvetica Neue"/>
                <a:cs typeface="Helvetica Neue"/>
              </a:defRPr>
            </a:pPr>
            <a:r>
              <a:rPr sz="1350" b="0">
                <a:solidFill>
                  <a:srgbClr val="516776"/>
                </a:solidFill>
                <a:latin typeface="Helvetica Neue"/>
                <a:ea typeface="Helvetica Neue"/>
                <a:cs typeface="Helvetica Neue"/>
              </a:rPr>
              <a:t>2</a:t>
            </a:r>
          </a:p>
        </p:txBody>
      </p:sp>
      <p:sp>
        <p:nvSpPr>
          <p:cNvPr id="3" name="">
            <a:extLst xmlns:a="http://schemas.openxmlformats.org/drawingml/2006/main">
              <a:ext uri="{FF2B5EF4-FFF2-40B4-BE49-F238E27FC236}">
                <a16:creationId xmlns:a16="http://schemas.microsoft.com/office/drawing/2014/main" id="{7D281404-43A2-4FDB-A153-B53762776357}"/>
              </a:ext>
            </a:extLst>
          </p:cNvPr>
          <p:cNvSpPr>
            <a:spLocks xmlns:a="http://schemas.openxmlformats.org/drawingml/2006/main" noGrp="1"/>
          </p:cNvSpPr>
          <p:nvPr/>
        </p:nvSpPr>
        <p:spPr>
          <a:xfrm xmlns:a="http://schemas.openxmlformats.org/drawingml/2006/main">
            <a:off x="609600" y="14192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Database queries consume too much time</a:t>
            </a:r>
          </a:p>
        </p:txBody>
      </p:sp>
      <p:sp>
        <p:nvSpPr>
          <p:cNvPr id="4" name="">
            <a:extLst xmlns:a="http://schemas.openxmlformats.org/drawingml/2006/main">
              <a:ext uri="{FF2B5EF4-FFF2-40B4-BE49-F238E27FC236}">
                <a16:creationId xmlns:a16="http://schemas.microsoft.com/office/drawing/2014/main" id="{00E81A9B-5412-4732-95F2-6B76CCF08F95}"/>
              </a:ext>
            </a:extLst>
          </p:cNvPr>
          <p:cNvSpPr>
            <a:spLocks xmlns:a="http://schemas.openxmlformats.org/drawingml/2006/main" noGrp="1"/>
          </p:cNvSpPr>
          <p:nvPr/>
        </p:nvSpPr>
        <p:spPr>
          <a:xfrm xmlns:a="http://schemas.openxmlformats.org/drawingml/2006/main">
            <a:off x="609600" y="17716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Broad scans, expensive counts, joins, and deep offsets occupy connections.</a:t>
            </a:r>
          </a:p>
        </p:txBody>
      </p:sp>
      <p:sp>
        <p:nvSpPr>
          <p:cNvPr id="5" name="">
            <a:extLst xmlns:a="http://schemas.openxmlformats.org/drawingml/2006/main">
              <a:ext uri="{FF2B5EF4-FFF2-40B4-BE49-F238E27FC236}">
                <a16:creationId xmlns:a16="http://schemas.microsoft.com/office/drawing/2014/main" id="{3D1B5192-47CE-45B0-9E58-929A5F9DB857}"/>
              </a:ext>
            </a:extLst>
          </p:cNvPr>
          <p:cNvSpPr>
            <a:spLocks xmlns:a="http://schemas.openxmlformats.org/drawingml/2006/main" noGrp="1"/>
          </p:cNvSpPr>
          <p:nvPr/>
        </p:nvSpPr>
        <p:spPr>
          <a:xfrm xmlns:a="http://schemas.openxmlformats.org/drawingml/2006/main">
            <a:off x="609600" y="23812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API duplication grows without control</a:t>
            </a:r>
          </a:p>
        </p:txBody>
      </p:sp>
      <p:sp>
        <p:nvSpPr>
          <p:cNvPr id="6" name="">
            <a:extLst xmlns:a="http://schemas.openxmlformats.org/drawingml/2006/main">
              <a:ext uri="{FF2B5EF4-FFF2-40B4-BE49-F238E27FC236}">
                <a16:creationId xmlns:a16="http://schemas.microsoft.com/office/drawing/2014/main" id="{AF8F73D1-0395-4B26-9C96-9DB1DAA9EA0C}"/>
              </a:ext>
            </a:extLst>
          </p:cNvPr>
          <p:cNvSpPr>
            <a:spLocks xmlns:a="http://schemas.openxmlformats.org/drawingml/2006/main" noGrp="1"/>
          </p:cNvSpPr>
          <p:nvPr/>
        </p:nvSpPr>
        <p:spPr>
          <a:xfrm xmlns:a="http://schemas.openxmlformats.org/drawingml/2006/main">
            <a:off x="609600" y="27336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Each filter, sort, or response variant can become another endpoint.</a:t>
            </a:r>
          </a:p>
        </p:txBody>
      </p:sp>
      <p:sp>
        <p:nvSpPr>
          <p:cNvPr id="7" name="">
            <a:extLst xmlns:a="http://schemas.openxmlformats.org/drawingml/2006/main">
              <a:ext uri="{FF2B5EF4-FFF2-40B4-BE49-F238E27FC236}">
                <a16:creationId xmlns:a16="http://schemas.microsoft.com/office/drawing/2014/main" id="{61F09CC3-50AC-4D0F-ACCF-499D10B4E06F}"/>
              </a:ext>
            </a:extLst>
          </p:cNvPr>
          <p:cNvSpPr>
            <a:spLocks xmlns:a="http://schemas.openxmlformats.org/drawingml/2006/main" noGrp="1"/>
          </p:cNvSpPr>
          <p:nvPr/>
        </p:nvSpPr>
        <p:spPr>
          <a:xfrm xmlns:a="http://schemas.openxmlformats.org/drawingml/2006/main">
            <a:off x="609600" y="33432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Similar APIs have different implementations</a:t>
            </a:r>
          </a:p>
        </p:txBody>
      </p:sp>
      <p:sp>
        <p:nvSpPr>
          <p:cNvPr id="8" name="">
            <a:extLst xmlns:a="http://schemas.openxmlformats.org/drawingml/2006/main">
              <a:ext uri="{FF2B5EF4-FFF2-40B4-BE49-F238E27FC236}">
                <a16:creationId xmlns:a16="http://schemas.microsoft.com/office/drawing/2014/main" id="{98DEB591-6B75-459F-870C-AA8754A1C4EB}"/>
              </a:ext>
            </a:extLst>
          </p:cNvPr>
          <p:cNvSpPr>
            <a:spLocks xmlns:a="http://schemas.openxmlformats.org/drawingml/2006/main" noGrp="1"/>
          </p:cNvSpPr>
          <p:nvPr/>
        </p:nvSpPr>
        <p:spPr>
          <a:xfrm xmlns:a="http://schemas.openxmlformats.org/drawingml/2006/main">
            <a:off x="609600" y="36957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Teams repeat pagination, query validation, and database access logic.</a:t>
            </a:r>
          </a:p>
        </p:txBody>
      </p:sp>
      <p:sp>
        <p:nvSpPr>
          <p:cNvPr id="9" name="">
            <a:extLst xmlns:a="http://schemas.openxmlformats.org/drawingml/2006/main">
              <a:ext uri="{FF2B5EF4-FFF2-40B4-BE49-F238E27FC236}">
                <a16:creationId xmlns:a16="http://schemas.microsoft.com/office/drawing/2014/main" id="{EBC60919-4B8A-464A-A529-8F7E8D10C529}"/>
              </a:ext>
            </a:extLst>
          </p:cNvPr>
          <p:cNvSpPr>
            <a:spLocks xmlns:a="http://schemas.openxmlformats.org/drawingml/2006/main" noGrp="1"/>
          </p:cNvSpPr>
          <p:nvPr/>
        </p:nvSpPr>
        <p:spPr>
          <a:xfrm xmlns:a="http://schemas.openxmlformats.org/drawingml/2006/main">
            <a:off x="609600" y="43053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Protection rules drift between services</a:t>
            </a:r>
          </a:p>
        </p:txBody>
      </p:sp>
      <p:sp>
        <p:nvSpPr>
          <p:cNvPr id="10" name="">
            <a:extLst xmlns:a="http://schemas.openxmlformats.org/drawingml/2006/main">
              <a:ext uri="{FF2B5EF4-FFF2-40B4-BE49-F238E27FC236}">
                <a16:creationId xmlns:a16="http://schemas.microsoft.com/office/drawing/2014/main" id="{5CC2D4F3-F793-44E2-B0BF-9F9A5E20112D}"/>
              </a:ext>
            </a:extLst>
          </p:cNvPr>
          <p:cNvSpPr>
            <a:spLocks xmlns:a="http://schemas.openxmlformats.org/drawingml/2006/main" noGrp="1"/>
          </p:cNvSpPr>
          <p:nvPr/>
        </p:nvSpPr>
        <p:spPr>
          <a:xfrm xmlns:a="http://schemas.openxmlformats.org/drawingml/2006/main">
            <a:off x="609600" y="46577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Timeouts, limits, and field permissions differ across protocols or Java versions.</a:t>
            </a:r>
          </a:p>
        </p:txBody>
      </p:sp>
      <p:sp>
        <p:nvSpPr>
          <p:cNvPr id="11" name="">
            <a:extLst xmlns:a="http://schemas.openxmlformats.org/drawingml/2006/main">
              <a:ext uri="{FF2B5EF4-FFF2-40B4-BE49-F238E27FC236}">
                <a16:creationId xmlns:a16="http://schemas.microsoft.com/office/drawing/2014/main" id="{C954E8A2-A00F-4CA7-9F6E-13CBB13861DE}"/>
              </a:ext>
            </a:extLst>
          </p:cNvPr>
          <p:cNvSpPr>
            <a:spLocks xmlns:a="http://schemas.openxmlformats.org/drawingml/2006/main" noGrp="1"/>
          </p:cNvSpPr>
          <p:nvPr/>
        </p:nvSpPr>
        <p:spPr>
          <a:xfrm xmlns:a="http://schemas.openxmlformats.org/drawingml/2006/main">
            <a:off x="609600" y="52673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Failures are difficult to explain</a:t>
            </a:r>
          </a:p>
        </p:txBody>
      </p:sp>
      <p:sp>
        <p:nvSpPr>
          <p:cNvPr id="12" name="">
            <a:extLst xmlns:a="http://schemas.openxmlformats.org/drawingml/2006/main">
              <a:ext uri="{FF2B5EF4-FFF2-40B4-BE49-F238E27FC236}">
                <a16:creationId xmlns:a16="http://schemas.microsoft.com/office/drawing/2014/main" id="{1E3FEB27-722D-4E8A-B4C7-5E6316569BE5}"/>
              </a:ext>
            </a:extLst>
          </p:cNvPr>
          <p:cNvSpPr>
            <a:spLocks xmlns:a="http://schemas.openxmlformats.org/drawingml/2006/main" noGrp="1"/>
          </p:cNvSpPr>
          <p:nvPr/>
        </p:nvSpPr>
        <p:spPr>
          <a:xfrm xmlns:a="http://schemas.openxmlformats.org/drawingml/2006/main">
            <a:off x="609600" y="56197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Clients cannot easily distinguish invalid queries from expensive database plans.</a:t>
            </a:r>
          </a:p>
        </p:txBody>
      </p:sp>
    </p:spTree>
    <p:extLst>
      <p:ext uri="{BB962C8B-B14F-4D97-AF65-F5344CB8AC3E}">
        <p14:creationId xmlns:p14="http://schemas.microsoft.com/office/powerpoint/2010/main" val="1035016937"/>
      </p:ext>
    </p:extLst>
  </p:cSld>
</p:sld>
</file>

<file path=ppt/slides/slide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AF62D00-B5E2-4682-991B-F28D548E0760}"/>
              </a:ext>
            </a:extLst>
          </p:cNvPr>
          <p:cNvSpPr>
            <a:spLocks xmlns:a="http://schemas.openxmlformats.org/drawingml/2006/main" noGrp="1"/>
          </p:cNvSpPr>
          <p:nvPr/>
        </p:nvSpPr>
        <p:spPr>
          <a:xfrm xmlns:a="http://schemas.openxmlformats.org/drawingml/2006/main">
            <a:off x="609600" y="3810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03D"/>
                </a:solidFill>
                <a:latin typeface="Helvetica Neue"/>
                <a:ea typeface="Helvetica Neue"/>
                <a:cs typeface="Helvetica Neue"/>
              </a:defRPr>
            </a:pPr>
            <a:r>
              <a:rPr sz="3300" b="1">
                <a:solidFill>
                  <a:srgbClr val="18303D"/>
                </a:solidFill>
                <a:latin typeface="Helvetica Neue"/>
                <a:ea typeface="Helvetica Neue"/>
                <a:cs typeface="Helvetica Neue"/>
              </a:rPr>
              <a:t>Architecture and separation of concerns</a:t>
            </a:r>
          </a:p>
        </p:txBody>
      </p:sp>
      <p:sp>
        <p:nvSpPr>
          <p:cNvPr id="2" name="">
            <a:extLst xmlns:a="http://schemas.openxmlformats.org/drawingml/2006/main">
              <a:ext uri="{FF2B5EF4-FFF2-40B4-BE49-F238E27FC236}">
                <a16:creationId xmlns:a16="http://schemas.microsoft.com/office/drawing/2014/main" id="{30FD8510-58EF-4677-89A7-093EFE6F549E}"/>
              </a:ext>
            </a:extLst>
          </p:cNvPr>
          <p:cNvSpPr>
            <a:spLocks xmlns:a="http://schemas.openxmlformats.org/drawingml/2006/main" noGrp="1"/>
          </p:cNvSpPr>
          <p:nvPr/>
        </p:nvSpPr>
        <p:spPr>
          <a:xfrm xmlns:a="http://schemas.openxmlformats.org/drawingml/2006/main">
            <a:off x="11144250"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6"/>
                </a:solidFill>
                <a:latin typeface="Helvetica Neue"/>
                <a:ea typeface="Helvetica Neue"/>
                <a:cs typeface="Helvetica Neue"/>
              </a:defRPr>
            </a:pPr>
            <a:r>
              <a:rPr sz="1350" b="0">
                <a:solidFill>
                  <a:srgbClr val="516776"/>
                </a:solidFill>
                <a:latin typeface="Helvetica Neue"/>
                <a:ea typeface="Helvetica Neue"/>
                <a:cs typeface="Helvetica Neue"/>
              </a:rPr>
              <a:t>3</a:t>
            </a:r>
          </a:p>
        </p:txBody>
      </p:sp>
      <p:sp>
        <p:nvSpPr>
          <p:cNvPr id="3" name="">
            <a:extLst xmlns:a="http://schemas.openxmlformats.org/drawingml/2006/main">
              <a:ext uri="{FF2B5EF4-FFF2-40B4-BE49-F238E27FC236}">
                <a16:creationId xmlns:a16="http://schemas.microsoft.com/office/drawing/2014/main" id="{8D53DD69-A34A-4D34-8455-18DB38B8CCE6}"/>
              </a:ext>
            </a:extLst>
          </p:cNvPr>
          <p:cNvSpPr>
            <a:spLocks xmlns:a="http://schemas.openxmlformats.org/drawingml/2006/main" noGrp="1"/>
          </p:cNvSpPr>
          <p:nvPr/>
        </p:nvSpPr>
        <p:spPr>
          <a:xfrm xmlns:a="http://schemas.openxmlformats.org/drawingml/2006/main">
            <a:off x="609600" y="1600200"/>
            <a:ext cx="4667250" cy="609600"/>
          </a:xfrm>
          <a:prstGeom xmlns:a="http://schemas.openxmlformats.org/drawingml/2006/main" prst="rect">
            <a:avLst/>
          </a:prstGeom>
          <a:solidFill xmlns:a="http://schemas.openxmlformats.org/drawingml/2006/main">
            <a:srgbClr val="FFFFFF"/>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a:solidFill>
                  <a:srgbClr val="18303D"/>
                </a:solidFill>
                <a:latin typeface="Helvetica Neue"/>
                <a:ea typeface="Helvetica Neue"/>
                <a:cs typeface="Helvetica Neue"/>
              </a:defRPr>
            </a:pPr>
            <a:r>
              <a:rPr sz="1875">
                <a:solidFill>
                  <a:srgbClr val="18303D"/>
                </a:solidFill>
                <a:latin typeface="Helvetica Neue"/>
                <a:ea typeface="Helvetica Neue"/>
                <a:cs typeface="Helvetica Neue"/>
              </a:rPr>
              <a:t>Visual query builder</a:t>
            </a:r>
          </a:p>
        </p:txBody>
      </p:sp>
      <p:sp>
        <p:nvSpPr>
          <p:cNvPr id="4" name="">
            <a:extLst xmlns:a="http://schemas.openxmlformats.org/drawingml/2006/main">
              <a:ext uri="{FF2B5EF4-FFF2-40B4-BE49-F238E27FC236}">
                <a16:creationId xmlns:a16="http://schemas.microsoft.com/office/drawing/2014/main" id="{44989FCC-4FB5-4F84-9221-58777EB16977}"/>
              </a:ext>
            </a:extLst>
          </p:cNvPr>
          <p:cNvSpPr>
            <a:spLocks xmlns:a="http://schemas.openxmlformats.org/drawingml/2006/main" noGrp="1"/>
          </p:cNvSpPr>
          <p:nvPr/>
        </p:nvSpPr>
        <p:spPr>
          <a:xfrm xmlns:a="http://schemas.openxmlformats.org/drawingml/2006/main">
            <a:off x="609600" y="2600325"/>
            <a:ext cx="4667250" cy="838200"/>
          </a:xfrm>
          <a:prstGeom xmlns:a="http://schemas.openxmlformats.org/drawingml/2006/main" prst="rect">
            <a:avLst/>
          </a:prstGeom>
          <a:solidFill xmlns:a="http://schemas.openxmlformats.org/drawingml/2006/main">
            <a:srgbClr val="FFFFFF"/>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a:solidFill>
                  <a:srgbClr val="18303D"/>
                </a:solidFill>
                <a:latin typeface="Helvetica Neue"/>
                <a:ea typeface="Helvetica Neue"/>
                <a:cs typeface="Helvetica Neue"/>
              </a:defRPr>
            </a:pPr>
            <a:r>
              <a:rPr sz="1875">
                <a:solidFill>
                  <a:srgbClr val="18303D"/>
                </a:solidFill>
                <a:latin typeface="Helvetica Neue"/>
                <a:ea typeface="Helvetica Neue"/>
                <a:cs typeface="Helvetica Neue"/>
              </a:rPr>
              <a:t>HTTP gate</a:t>
            </a:r>
          </a:p>
          <a:p xmlns:a="http://schemas.openxmlformats.org/drawingml/2006/main">
            <a:pPr>
              <a:defRPr sz="1875">
                <a:solidFill>
                  <a:srgbClr val="18303D"/>
                </a:solidFill>
                <a:latin typeface="Helvetica Neue"/>
                <a:ea typeface="Helvetica Neue"/>
                <a:cs typeface="Helvetica Neue"/>
              </a:defRPr>
            </a:pPr>
            <a:r>
              <a:rPr sz="1875">
                <a:solidFill>
                  <a:srgbClr val="18303D"/>
                </a:solidFill>
                <a:latin typeface="Helvetica Neue"/>
                <a:ea typeface="Helvetica Neue"/>
                <a:cs typeface="Helvetica Neue"/>
              </a:rPr>
              <a:t>Rate, concurrency, deadline</a:t>
            </a:r>
          </a:p>
        </p:txBody>
      </p:sp>
      <p:sp>
        <p:nvSpPr>
          <p:cNvPr id="5" name="">
            <a:extLst xmlns:a="http://schemas.openxmlformats.org/drawingml/2006/main">
              <a:ext uri="{FF2B5EF4-FFF2-40B4-BE49-F238E27FC236}">
                <a16:creationId xmlns:a16="http://schemas.microsoft.com/office/drawing/2014/main" id="{134CF037-6928-4A0A-B4C3-DD3B2C47C1D6}"/>
              </a:ext>
            </a:extLst>
          </p:cNvPr>
          <p:cNvSpPr>
            <a:spLocks xmlns:a="http://schemas.openxmlformats.org/drawingml/2006/main" noGrp="1"/>
          </p:cNvSpPr>
          <p:nvPr/>
        </p:nvSpPr>
        <p:spPr>
          <a:xfrm xmlns:a="http://schemas.openxmlformats.org/drawingml/2006/main">
            <a:off x="609600" y="3829050"/>
            <a:ext cx="4667250" cy="838200"/>
          </a:xfrm>
          <a:prstGeom xmlns:a="http://schemas.openxmlformats.org/drawingml/2006/main" prst="rect">
            <a:avLst/>
          </a:prstGeom>
          <a:solidFill xmlns:a="http://schemas.openxmlformats.org/drawingml/2006/main">
            <a:srgbClr val="FFFFFF"/>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a:solidFill>
                  <a:srgbClr val="18303D"/>
                </a:solidFill>
                <a:latin typeface="Helvetica Neue"/>
                <a:ea typeface="Helvetica Neue"/>
                <a:cs typeface="Helvetica Neue"/>
              </a:defRPr>
            </a:pPr>
            <a:r>
              <a:rPr sz="1875">
                <a:solidFill>
                  <a:srgbClr val="18303D"/>
                </a:solidFill>
                <a:latin typeface="Helvetica Neue"/>
                <a:ea typeface="Helvetica Neue"/>
                <a:cs typeface="Helvetica Neue"/>
              </a:rPr>
              <a:t>Protocol adapters</a:t>
            </a:r>
          </a:p>
          <a:p xmlns:a="http://schemas.openxmlformats.org/drawingml/2006/main">
            <a:pPr>
              <a:defRPr sz="1875">
                <a:solidFill>
                  <a:srgbClr val="18303D"/>
                </a:solidFill>
                <a:latin typeface="Helvetica Neue"/>
                <a:ea typeface="Helvetica Neue"/>
                <a:cs typeface="Helvetica Neue"/>
              </a:defRPr>
            </a:pPr>
            <a:r>
              <a:rPr sz="1875">
                <a:solidFill>
                  <a:srgbClr val="18303D"/>
                </a:solidFill>
                <a:latin typeface="Helvetica Neue"/>
                <a:ea typeface="Helvetica Neue"/>
                <a:cs typeface="Helvetica Neue"/>
              </a:rPr>
              <a:t>OData / SAP or GraphQL / JDBC</a:t>
            </a:r>
          </a:p>
        </p:txBody>
      </p:sp>
      <p:sp>
        <p:nvSpPr>
          <p:cNvPr id="6" name="">
            <a:extLst xmlns:a="http://schemas.openxmlformats.org/drawingml/2006/main">
              <a:ext uri="{FF2B5EF4-FFF2-40B4-BE49-F238E27FC236}">
                <a16:creationId xmlns:a16="http://schemas.microsoft.com/office/drawing/2014/main" id="{0DBDD045-4F0F-4266-820F-99527692E81A}"/>
              </a:ext>
            </a:extLst>
          </p:cNvPr>
          <p:cNvSpPr>
            <a:spLocks xmlns:a="http://schemas.openxmlformats.org/drawingml/2006/main" noGrp="1"/>
          </p:cNvSpPr>
          <p:nvPr/>
        </p:nvSpPr>
        <p:spPr>
          <a:xfrm xmlns:a="http://schemas.openxmlformats.org/drawingml/2006/main">
            <a:off x="609600" y="5057775"/>
            <a:ext cx="4667250" cy="838200"/>
          </a:xfrm>
          <a:prstGeom xmlns:a="http://schemas.openxmlformats.org/drawingml/2006/main" prst="rect">
            <a:avLst/>
          </a:prstGeom>
          <a:solidFill xmlns:a="http://schemas.openxmlformats.org/drawingml/2006/main">
            <a:srgbClr val="FFFFFF"/>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a:solidFill>
                  <a:srgbClr val="18303D"/>
                </a:solidFill>
                <a:latin typeface="Helvetica Neue"/>
                <a:ea typeface="Helvetica Neue"/>
                <a:cs typeface="Helvetica Neue"/>
              </a:defRPr>
            </a:pPr>
            <a:r>
              <a:rPr sz="1875">
                <a:solidFill>
                  <a:srgbClr val="18303D"/>
                </a:solidFill>
                <a:latin typeface="Helvetica Neue"/>
                <a:ea typeface="Helvetica Neue"/>
                <a:cs typeface="Helvetica Neue"/>
              </a:rPr>
              <a:t>Guarded JDBC and PostgreSQL</a:t>
            </a:r>
          </a:p>
          <a:p xmlns:a="http://schemas.openxmlformats.org/drawingml/2006/main">
            <a:pPr>
              <a:defRPr sz="1875">
                <a:solidFill>
                  <a:srgbClr val="18303D"/>
                </a:solidFill>
                <a:latin typeface="Helvetica Neue"/>
                <a:ea typeface="Helvetica Neue"/>
                <a:cs typeface="Helvetica Neue"/>
              </a:defRPr>
            </a:pPr>
            <a:r>
              <a:rPr sz="1875">
                <a:solidFill>
                  <a:srgbClr val="18303D"/>
                </a:solidFill>
                <a:latin typeface="Helvetica Neue"/>
                <a:ea typeface="Helvetica Neue"/>
                <a:cs typeface="Helvetica Neue"/>
              </a:rPr>
              <a:t>Plan inspection, execution timeout</a:t>
            </a:r>
          </a:p>
        </p:txBody>
      </p:sp>
      <p:sp>
        <p:nvSpPr>
          <p:cNvPr id="7" name="">
            <a:extLst xmlns:a="http://schemas.openxmlformats.org/drawingml/2006/main">
              <a:ext uri="{FF2B5EF4-FFF2-40B4-BE49-F238E27FC236}">
                <a16:creationId xmlns:a16="http://schemas.microsoft.com/office/drawing/2014/main" id="{978CC5ED-6C70-448E-9D6E-87A59605629A}"/>
              </a:ext>
            </a:extLst>
          </p:cNvPr>
          <p:cNvSpPr>
            <a:spLocks xmlns:a="http://schemas.openxmlformats.org/drawingml/2006/main" noGrp="1"/>
          </p:cNvSpPr>
          <p:nvPr/>
        </p:nvSpPr>
        <p:spPr>
          <a:xfrm xmlns:a="http://schemas.openxmlformats.org/drawingml/2006/main">
            <a:off x="6724650" y="3095625"/>
            <a:ext cx="4686300" cy="23050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a:solidFill>
                  <a:srgbClr val="18303D"/>
                </a:solidFill>
                <a:latin typeface="Helvetica Neue"/>
                <a:ea typeface="Helvetica Neue"/>
                <a:cs typeface="Helvetica Neue"/>
              </a:defRPr>
            </a:pPr>
            <a:r>
              <a:rPr sz="1875">
                <a:solidFill>
                  <a:srgbClr val="18303D"/>
                </a:solidFill>
                <a:latin typeface="Helvetica Neue"/>
                <a:ea typeface="Helvetica Neue"/>
                <a:cs typeface="Helvetica Neue"/>
              </a:rPr>
              <a:t>Query Core</a:t>
            </a:r>
          </a:p>
          <a:p xmlns:a="http://schemas.openxmlformats.org/drawingml/2006/main">
            <a:r>
              <a:t/>
            </a:r>
          </a:p>
          <a:p xmlns:a="http://schemas.openxmlformats.org/drawingml/2006/main">
            <a:pPr>
              <a:defRPr sz="1875">
                <a:solidFill>
                  <a:srgbClr val="18303D"/>
                </a:solidFill>
                <a:latin typeface="Helvetica Neue"/>
                <a:ea typeface="Helvetica Neue"/>
                <a:cs typeface="Helvetica Neue"/>
              </a:defRPr>
            </a:pPr>
            <a:r>
              <a:rPr sz="1875">
                <a:solidFill>
                  <a:srgbClr val="18303D"/>
                </a:solidFill>
                <a:latin typeface="Helvetica Neue"/>
                <a:ea typeface="Helvetica Neue"/>
                <a:cs typeface="Helvetica Neue"/>
              </a:rPr>
              <a:t>Limits and allowed fields</a:t>
            </a:r>
          </a:p>
          <a:p xmlns:a="http://schemas.openxmlformats.org/drawingml/2006/main">
            <a:pPr>
              <a:defRPr sz="1875">
                <a:solidFill>
                  <a:srgbClr val="18303D"/>
                </a:solidFill>
                <a:latin typeface="Helvetica Neue"/>
                <a:ea typeface="Helvetica Neue"/>
                <a:cs typeface="Helvetica Neue"/>
              </a:defRPr>
            </a:pPr>
            <a:r>
              <a:rPr sz="1875">
                <a:solidFill>
                  <a:srgbClr val="18303D"/>
                </a:solidFill>
                <a:latin typeface="Helvetica Neue"/>
                <a:ea typeface="Helvetica Neue"/>
                <a:cs typeface="Helvetica Neue"/>
              </a:rPr>
              <a:t>Paging budget and cursors</a:t>
            </a:r>
          </a:p>
          <a:p xmlns:a="http://schemas.openxmlformats.org/drawingml/2006/main">
            <a:pPr>
              <a:defRPr sz="1875">
                <a:solidFill>
                  <a:srgbClr val="18303D"/>
                </a:solidFill>
                <a:latin typeface="Helvetica Neue"/>
                <a:ea typeface="Helvetica Neue"/>
                <a:cs typeface="Helvetica Neue"/>
              </a:defRPr>
            </a:pPr>
            <a:r>
              <a:rPr sz="1875">
                <a:solidFill>
                  <a:srgbClr val="18303D"/>
                </a:solidFill>
                <a:latin typeface="Helvetica Neue"/>
                <a:ea typeface="Helvetica Neue"/>
                <a:cs typeface="Helvetica Neue"/>
              </a:rPr>
              <a:t>Estimated plan decisions</a:t>
            </a:r>
          </a:p>
        </p:txBody>
      </p:sp>
      <p:cxnSp>
        <p:nvCxnSpPr>
          <p:cNvPr id="20" name=""/>
          <p:cNvCxnSpPr>
            <a:stCxn xmlns:a="http://schemas.openxmlformats.org/drawingml/2006/main" id="3" idx="2"/>
            <a:endCxn xmlns:a="http://schemas.openxmlformats.org/drawingml/2006/main" id="4" idx="0"/>
          </p:cNvCxnSpPr>
          <p:nvPr/>
        </p:nvCxnSpPr>
        <p:spPr>
          <a:xfrm xmlns:a="http://schemas.openxmlformats.org/drawingml/2006/main">
            <a:off x="2943225" y="2209800"/>
            <a:ext cx="0" cy="390525"/>
          </a:xfrm>
          <a:prstGeom xmlns:a="http://schemas.openxmlformats.org/drawingml/2006/main" prst="straightConnector1">
            <a:avLst/>
          </a:prstGeom>
          <a:ln xmlns:a="http://schemas.openxmlformats.org/drawingml/2006/main" w="19050">
            <a:solidFill>
              <a:srgbClr val="516776"/>
            </a:solidFill>
            <a:tailEnd type="triangle" w="sm" len="sm"/>
          </a:ln>
        </p:spPr>
      </p:cxnSp>
      <p:cxnSp>
        <p:nvCxnSpPr>
          <p:cNvPr id="21" name=""/>
          <p:cNvCxnSpPr>
            <a:stCxn xmlns:a="http://schemas.openxmlformats.org/drawingml/2006/main" id="4" idx="2"/>
            <a:endCxn xmlns:a="http://schemas.openxmlformats.org/drawingml/2006/main" id="5" idx="0"/>
          </p:cNvCxnSpPr>
          <p:nvPr/>
        </p:nvCxnSpPr>
        <p:spPr>
          <a:xfrm xmlns:a="http://schemas.openxmlformats.org/drawingml/2006/main">
            <a:off x="2943225" y="3438525"/>
            <a:ext cx="0" cy="390525"/>
          </a:xfrm>
          <a:prstGeom xmlns:a="http://schemas.openxmlformats.org/drawingml/2006/main" prst="straightConnector1">
            <a:avLst/>
          </a:prstGeom>
          <a:ln xmlns:a="http://schemas.openxmlformats.org/drawingml/2006/main" w="19050">
            <a:solidFill>
              <a:srgbClr val="516776"/>
            </a:solidFill>
            <a:tailEnd type="triangle" w="sm" len="sm"/>
          </a:ln>
        </p:spPr>
      </p:cxnSp>
      <p:cxnSp>
        <p:nvCxnSpPr>
          <p:cNvPr id="22" name=""/>
          <p:cNvCxnSpPr>
            <a:stCxn xmlns:a="http://schemas.openxmlformats.org/drawingml/2006/main" id="5" idx="2"/>
            <a:endCxn xmlns:a="http://schemas.openxmlformats.org/drawingml/2006/main" id="6" idx="0"/>
          </p:cNvCxnSpPr>
          <p:nvPr/>
        </p:nvCxnSpPr>
        <p:spPr>
          <a:xfrm xmlns:a="http://schemas.openxmlformats.org/drawingml/2006/main">
            <a:off x="2943225" y="4667250"/>
            <a:ext cx="0" cy="390525"/>
          </a:xfrm>
          <a:prstGeom xmlns:a="http://schemas.openxmlformats.org/drawingml/2006/main" prst="straightConnector1">
            <a:avLst/>
          </a:prstGeom>
          <a:ln xmlns:a="http://schemas.openxmlformats.org/drawingml/2006/main" w="19050">
            <a:solidFill>
              <a:srgbClr val="516776"/>
            </a:solidFill>
            <a:tailEnd type="triangle" w="sm" len="sm"/>
          </a:ln>
        </p:spPr>
      </p:cxnSp>
      <p:cxnSp>
        <p:nvCxnSpPr>
          <p:cNvPr id="23" name=""/>
          <p:cNvCxnSpPr>
            <a:stCxn xmlns:a="http://schemas.openxmlformats.org/drawingml/2006/main" id="5" idx="3"/>
            <a:endCxn xmlns:a="http://schemas.openxmlformats.org/drawingml/2006/main" id="7" idx="1"/>
          </p:cNvCxnSpPr>
          <p:nvPr/>
        </p:nvCxnSpPr>
        <p:spPr>
          <a:xfrm xmlns:a="http://schemas.openxmlformats.org/drawingml/2006/main">
            <a:off x="5276850" y="4248150"/>
            <a:ext cx="1447800" cy="0"/>
          </a:xfrm>
          <a:prstGeom xmlns:a="http://schemas.openxmlformats.org/drawingml/2006/main" prst="straightConnector1">
            <a:avLst/>
          </a:prstGeom>
          <a:ln xmlns:a="http://schemas.openxmlformats.org/drawingml/2006/main" w="19050">
            <a:solidFill>
              <a:srgbClr val="087F83"/>
            </a:solidFill>
            <a:tailEnd type="triangle" w="sm" len="sm"/>
          </a:ln>
        </p:spPr>
      </p:cxnSp>
      <p:sp>
        <p:nvSpPr>
          <p:cNvPr id="12" name="">
            <a:extLst xmlns:a="http://schemas.openxmlformats.org/drawingml/2006/main">
              <a:ext uri="{FF2B5EF4-FFF2-40B4-BE49-F238E27FC236}">
                <a16:creationId xmlns:a16="http://schemas.microsoft.com/office/drawing/2014/main" id="{2B02B0C5-3B9A-4DC7-AEEB-8F42AE2EDE1E}"/>
              </a:ext>
            </a:extLst>
          </p:cNvPr>
          <p:cNvSpPr>
            <a:spLocks xmlns:a="http://schemas.openxmlformats.org/drawingml/2006/main" noGrp="1"/>
          </p:cNvSpPr>
          <p:nvPr/>
        </p:nvSpPr>
        <p:spPr>
          <a:xfrm xmlns:a="http://schemas.openxmlformats.org/drawingml/2006/main">
            <a:off x="6724650" y="5619750"/>
            <a:ext cx="4714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6"/>
                </a:solidFill>
                <a:latin typeface="Helvetica Neue"/>
                <a:ea typeface="Helvetica Neue"/>
                <a:cs typeface="Helvetica Neue"/>
              </a:defRPr>
            </a:pPr>
            <a:r>
              <a:rPr sz="1800" b="0">
                <a:solidFill>
                  <a:srgbClr val="516776"/>
                </a:solidFill>
                <a:latin typeface="Helvetica Neue"/>
                <a:ea typeface="Helvetica Neue"/>
                <a:cs typeface="Helvetica Neue"/>
              </a:rPr>
              <a:t>Adapters call the framework-free core</a:t>
            </a:r>
          </a:p>
        </p:txBody>
      </p:sp>
    </p:spTree>
    <p:extLst>
      <p:ext uri="{BB962C8B-B14F-4D97-AF65-F5344CB8AC3E}">
        <p14:creationId xmlns:p14="http://schemas.microsoft.com/office/powerpoint/2010/main" val="1645847375"/>
      </p:ext>
    </p:extLst>
  </p:cSld>
</p:sld>
</file>

<file path=ppt/slides/slide4.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66CE118-4C20-41F9-A522-0F25B3C7D77F}"/>
              </a:ext>
            </a:extLst>
          </p:cNvPr>
          <p:cNvSpPr>
            <a:spLocks xmlns:a="http://schemas.openxmlformats.org/drawingml/2006/main" noGrp="1"/>
          </p:cNvSpPr>
          <p:nvPr/>
        </p:nvSpPr>
        <p:spPr>
          <a:xfrm xmlns:a="http://schemas.openxmlformats.org/drawingml/2006/main">
            <a:off x="609600" y="3810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03D"/>
                </a:solidFill>
                <a:latin typeface="Helvetica Neue"/>
                <a:ea typeface="Helvetica Neue"/>
                <a:cs typeface="Helvetica Neue"/>
              </a:defRPr>
            </a:pPr>
            <a:r>
              <a:rPr sz="3300" b="1">
                <a:solidFill>
                  <a:srgbClr val="18303D"/>
                </a:solidFill>
                <a:latin typeface="Helvetica Neue"/>
                <a:ea typeface="Helvetica Neue"/>
                <a:cs typeface="Helvetica Neue"/>
              </a:rPr>
              <a:t>Query Core rules and database safeguards</a:t>
            </a:r>
          </a:p>
        </p:txBody>
      </p:sp>
      <p:sp>
        <p:nvSpPr>
          <p:cNvPr id="2" name="">
            <a:extLst xmlns:a="http://schemas.openxmlformats.org/drawingml/2006/main">
              <a:ext uri="{FF2B5EF4-FFF2-40B4-BE49-F238E27FC236}">
                <a16:creationId xmlns:a16="http://schemas.microsoft.com/office/drawing/2014/main" id="{77977F4E-9A83-43A9-8B28-30F0DFBBA2BD}"/>
              </a:ext>
            </a:extLst>
          </p:cNvPr>
          <p:cNvSpPr>
            <a:spLocks xmlns:a="http://schemas.openxmlformats.org/drawingml/2006/main" noGrp="1"/>
          </p:cNvSpPr>
          <p:nvPr/>
        </p:nvSpPr>
        <p:spPr>
          <a:xfrm xmlns:a="http://schemas.openxmlformats.org/drawingml/2006/main">
            <a:off x="11144250"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6"/>
                </a:solidFill>
                <a:latin typeface="Helvetica Neue"/>
                <a:ea typeface="Helvetica Neue"/>
                <a:cs typeface="Helvetica Neue"/>
              </a:defRPr>
            </a:pPr>
            <a:r>
              <a:rPr sz="1350" b="0">
                <a:solidFill>
                  <a:srgbClr val="516776"/>
                </a:solidFill>
                <a:latin typeface="Helvetica Neue"/>
                <a:ea typeface="Helvetica Neue"/>
                <a:cs typeface="Helvetica Neue"/>
              </a:rPr>
              <a:t>4</a:t>
            </a:r>
          </a:p>
        </p:txBody>
      </p:sp>
      <p:sp>
        <p:nvSpPr>
          <p:cNvPr id="3" name="">
            <a:extLst xmlns:a="http://schemas.openxmlformats.org/drawingml/2006/main">
              <a:ext uri="{FF2B5EF4-FFF2-40B4-BE49-F238E27FC236}">
                <a16:creationId xmlns:a16="http://schemas.microsoft.com/office/drawing/2014/main" id="{D6FB517D-833B-45D4-ABD2-AF330E7AB6DB}"/>
              </a:ext>
            </a:extLst>
          </p:cNvPr>
          <p:cNvSpPr>
            <a:spLocks xmlns:a="http://schemas.openxmlformats.org/drawingml/2006/main" noGrp="1"/>
          </p:cNvSpPr>
          <p:nvPr/>
        </p:nvSpPr>
        <p:spPr>
          <a:xfrm xmlns:a="http://schemas.openxmlformats.org/drawingml/2006/main">
            <a:off x="609600" y="1466850"/>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01  Result and paging budget</a:t>
            </a:r>
          </a:p>
        </p:txBody>
      </p:sp>
      <p:sp>
        <p:nvSpPr>
          <p:cNvPr id="4" name="">
            <a:extLst xmlns:a="http://schemas.openxmlformats.org/drawingml/2006/main">
              <a:ext uri="{FF2B5EF4-FFF2-40B4-BE49-F238E27FC236}">
                <a16:creationId xmlns:a16="http://schemas.microsoft.com/office/drawing/2014/main" id="{29EED74C-FFEC-4381-BEBE-263CFE082F38}"/>
              </a:ext>
            </a:extLst>
          </p:cNvPr>
          <p:cNvSpPr>
            <a:spLocks xmlns:a="http://schemas.openxmlformats.org/drawingml/2006/main" noGrp="1"/>
          </p:cNvSpPr>
          <p:nvPr/>
        </p:nvSpPr>
        <p:spPr>
          <a:xfrm xmlns:a="http://schemas.openxmlformats.org/drawingml/2006/main">
            <a:off x="609600" y="1819275"/>
            <a:ext cx="5257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Maximum 500 results, pages of 50, offset at most 10,000.</a:t>
            </a:r>
          </a:p>
        </p:txBody>
      </p:sp>
      <p:sp>
        <p:nvSpPr>
          <p:cNvPr id="5" name="">
            <a:extLst xmlns:a="http://schemas.openxmlformats.org/drawingml/2006/main">
              <a:ext uri="{FF2B5EF4-FFF2-40B4-BE49-F238E27FC236}">
                <a16:creationId xmlns:a16="http://schemas.microsoft.com/office/drawing/2014/main" id="{03E7D5CF-E026-4C12-9C58-527FD974656A}"/>
              </a:ext>
            </a:extLst>
          </p:cNvPr>
          <p:cNvSpPr>
            <a:spLocks xmlns:a="http://schemas.openxmlformats.org/drawingml/2006/main" noGrp="1"/>
          </p:cNvSpPr>
          <p:nvPr/>
        </p:nvSpPr>
        <p:spPr>
          <a:xfrm xmlns:a="http://schemas.openxmlformats.org/drawingml/2006/main">
            <a:off x="609600" y="2495550"/>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02  Fields and query shape</a:t>
            </a:r>
          </a:p>
        </p:txBody>
      </p:sp>
      <p:sp>
        <p:nvSpPr>
          <p:cNvPr id="6" name="">
            <a:extLst xmlns:a="http://schemas.openxmlformats.org/drawingml/2006/main">
              <a:ext uri="{FF2B5EF4-FFF2-40B4-BE49-F238E27FC236}">
                <a16:creationId xmlns:a16="http://schemas.microsoft.com/office/drawing/2014/main" id="{6282FD92-F63F-4263-B6A1-CA95EB64856B}"/>
              </a:ext>
            </a:extLst>
          </p:cNvPr>
          <p:cNvSpPr>
            <a:spLocks xmlns:a="http://schemas.openxmlformats.org/drawingml/2006/main" noGrp="1"/>
          </p:cNvSpPr>
          <p:nvPr/>
        </p:nvSpPr>
        <p:spPr>
          <a:xfrm xmlns:a="http://schemas.openxmlformats.org/drawingml/2006/main">
            <a:off x="609600" y="2847975"/>
            <a:ext cx="5257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Filter/order allow-lists, depth 2, complexity ceiling 2,000.</a:t>
            </a:r>
          </a:p>
        </p:txBody>
      </p:sp>
      <p:sp>
        <p:nvSpPr>
          <p:cNvPr id="7" name="">
            <a:extLst xmlns:a="http://schemas.openxmlformats.org/drawingml/2006/main">
              <a:ext uri="{FF2B5EF4-FFF2-40B4-BE49-F238E27FC236}">
                <a16:creationId xmlns:a16="http://schemas.microsoft.com/office/drawing/2014/main" id="{F9D45F39-3B07-4BDB-9D2B-9E6EC5FB5F7F}"/>
              </a:ext>
            </a:extLst>
          </p:cNvPr>
          <p:cNvSpPr>
            <a:spLocks xmlns:a="http://schemas.openxmlformats.org/drawingml/2006/main" noGrp="1"/>
          </p:cNvSpPr>
          <p:nvPr/>
        </p:nvSpPr>
        <p:spPr>
          <a:xfrm xmlns:a="http://schemas.openxmlformats.org/drawingml/2006/main">
            <a:off x="609600" y="3524250"/>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03  Estimated SQL cost</a:t>
            </a:r>
          </a:p>
        </p:txBody>
      </p:sp>
      <p:sp>
        <p:nvSpPr>
          <p:cNvPr id="8" name="">
            <a:extLst xmlns:a="http://schemas.openxmlformats.org/drawingml/2006/main">
              <a:ext uri="{FF2B5EF4-FFF2-40B4-BE49-F238E27FC236}">
                <a16:creationId xmlns:a16="http://schemas.microsoft.com/office/drawing/2014/main" id="{2D40DB89-B45D-40FF-898A-D5369023AB34}"/>
              </a:ext>
            </a:extLst>
          </p:cNvPr>
          <p:cNvSpPr>
            <a:spLocks xmlns:a="http://schemas.openxmlformats.org/drawingml/2006/main" noGrp="1"/>
          </p:cNvSpPr>
          <p:nvPr/>
        </p:nvSpPr>
        <p:spPr>
          <a:xfrm xmlns:a="http://schemas.openxmlformats.org/drawingml/2006/main">
            <a:off x="609600" y="3876675"/>
            <a:ext cx="5257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Reject plan cost above 100,000 in ENFORCE.</a:t>
            </a:r>
          </a:p>
        </p:txBody>
      </p:sp>
      <p:sp>
        <p:nvSpPr>
          <p:cNvPr id="9" name="">
            <a:extLst xmlns:a="http://schemas.openxmlformats.org/drawingml/2006/main">
              <a:ext uri="{FF2B5EF4-FFF2-40B4-BE49-F238E27FC236}">
                <a16:creationId xmlns:a16="http://schemas.microsoft.com/office/drawing/2014/main" id="{138B37BD-7F54-4B61-A362-60413FF18FC8}"/>
              </a:ext>
            </a:extLst>
          </p:cNvPr>
          <p:cNvSpPr>
            <a:spLocks xmlns:a="http://schemas.openxmlformats.org/drawingml/2006/main" noGrp="1"/>
          </p:cNvSpPr>
          <p:nvPr/>
        </p:nvSpPr>
        <p:spPr>
          <a:xfrm xmlns:a="http://schemas.openxmlformats.org/drawingml/2006/main">
            <a:off x="609600" y="4552950"/>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04  Large-table sequential scans</a:t>
            </a:r>
          </a:p>
        </p:txBody>
      </p:sp>
      <p:sp>
        <p:nvSpPr>
          <p:cNvPr id="10" name="">
            <a:extLst xmlns:a="http://schemas.openxmlformats.org/drawingml/2006/main">
              <a:ext uri="{FF2B5EF4-FFF2-40B4-BE49-F238E27FC236}">
                <a16:creationId xmlns:a16="http://schemas.microsoft.com/office/drawing/2014/main" id="{0DF95D29-0451-4434-8307-3D321EE6EE55}"/>
              </a:ext>
            </a:extLst>
          </p:cNvPr>
          <p:cNvSpPr>
            <a:spLocks xmlns:a="http://schemas.openxmlformats.org/drawingml/2006/main" noGrp="1"/>
          </p:cNvSpPr>
          <p:nvPr/>
        </p:nvSpPr>
        <p:spPr>
          <a:xfrm xmlns:a="http://schemas.openxmlformats.org/drawingml/2006/main">
            <a:off x="609600" y="4905375"/>
            <a:ext cx="5257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Reject Seq Scan / Parallel Seq Scan at 10,000+ rows.</a:t>
            </a:r>
          </a:p>
        </p:txBody>
      </p:sp>
      <p:sp>
        <p:nvSpPr>
          <p:cNvPr id="11" name="">
            <a:extLst xmlns:a="http://schemas.openxmlformats.org/drawingml/2006/main">
              <a:ext uri="{FF2B5EF4-FFF2-40B4-BE49-F238E27FC236}">
                <a16:creationId xmlns:a16="http://schemas.microsoft.com/office/drawing/2014/main" id="{20CFF943-1EED-431D-BF7F-952A46D603BD}"/>
              </a:ext>
            </a:extLst>
          </p:cNvPr>
          <p:cNvSpPr>
            <a:spLocks xmlns:a="http://schemas.openxmlformats.org/drawingml/2006/main" noGrp="1"/>
          </p:cNvSpPr>
          <p:nvPr/>
        </p:nvSpPr>
        <p:spPr>
          <a:xfrm xmlns:a="http://schemas.openxmlformats.org/drawingml/2006/main">
            <a:off x="6257925" y="146685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05  Unavailable plans or statistics</a:t>
            </a:r>
          </a:p>
        </p:txBody>
      </p:sp>
      <p:sp>
        <p:nvSpPr>
          <p:cNvPr id="12" name="">
            <a:extLst xmlns:a="http://schemas.openxmlformats.org/drawingml/2006/main">
              <a:ext uri="{FF2B5EF4-FFF2-40B4-BE49-F238E27FC236}">
                <a16:creationId xmlns:a16="http://schemas.microsoft.com/office/drawing/2014/main" id="{5E9E872F-FDB3-4CBE-9475-D48626FC67C3}"/>
              </a:ext>
            </a:extLst>
          </p:cNvPr>
          <p:cNvSpPr>
            <a:spLocks xmlns:a="http://schemas.openxmlformats.org/drawingml/2006/main" noGrp="1"/>
          </p:cNvSpPr>
          <p:nvPr/>
        </p:nvSpPr>
        <p:spPr>
          <a:xfrm xmlns:a="http://schemas.openxmlformats.org/drawingml/2006/main">
            <a:off x="6257925" y="1819275"/>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ENFORCE rejects queries it cannot verify.</a:t>
            </a:r>
          </a:p>
        </p:txBody>
      </p:sp>
      <p:sp>
        <p:nvSpPr>
          <p:cNvPr id="13" name="">
            <a:extLst xmlns:a="http://schemas.openxmlformats.org/drawingml/2006/main">
              <a:ext uri="{FF2B5EF4-FFF2-40B4-BE49-F238E27FC236}">
                <a16:creationId xmlns:a16="http://schemas.microsoft.com/office/drawing/2014/main" id="{43932527-6745-40E0-B8CD-3F42DE7DA127}"/>
              </a:ext>
            </a:extLst>
          </p:cNvPr>
          <p:cNvSpPr>
            <a:spLocks xmlns:a="http://schemas.openxmlformats.org/drawingml/2006/main" noGrp="1"/>
          </p:cNvSpPr>
          <p:nvPr/>
        </p:nvSpPr>
        <p:spPr>
          <a:xfrm xmlns:a="http://schemas.openxmlformats.org/drawingml/2006/main">
            <a:off x="6257925" y="249555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06  Database execution time</a:t>
            </a:r>
          </a:p>
        </p:txBody>
      </p:sp>
      <p:sp>
        <p:nvSpPr>
          <p:cNvPr id="14" name="">
            <a:extLst xmlns:a="http://schemas.openxmlformats.org/drawingml/2006/main">
              <a:ext uri="{FF2B5EF4-FFF2-40B4-BE49-F238E27FC236}">
                <a16:creationId xmlns:a16="http://schemas.microsoft.com/office/drawing/2014/main" id="{7DBE9848-CAA8-4638-A5FA-BFD982DBFA14}"/>
              </a:ext>
            </a:extLst>
          </p:cNvPr>
          <p:cNvSpPr>
            <a:spLocks xmlns:a="http://schemas.openxmlformats.org/drawingml/2006/main" noGrp="1"/>
          </p:cNvSpPr>
          <p:nvPr/>
        </p:nvSpPr>
        <p:spPr>
          <a:xfrm xmlns:a="http://schemas.openxmlformats.org/drawingml/2006/main">
            <a:off x="6257925" y="2847975"/>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3,000 ms statement cap, reduced by remaining request time.</a:t>
            </a:r>
          </a:p>
        </p:txBody>
      </p:sp>
      <p:sp>
        <p:nvSpPr>
          <p:cNvPr id="15" name="">
            <a:extLst xmlns:a="http://schemas.openxmlformats.org/drawingml/2006/main">
              <a:ext uri="{FF2B5EF4-FFF2-40B4-BE49-F238E27FC236}">
                <a16:creationId xmlns:a16="http://schemas.microsoft.com/office/drawing/2014/main" id="{F42DEC71-6D5E-427A-8303-581EFD5FFF31}"/>
              </a:ext>
            </a:extLst>
          </p:cNvPr>
          <p:cNvSpPr>
            <a:spLocks xmlns:a="http://schemas.openxmlformats.org/drawingml/2006/main" noGrp="1"/>
          </p:cNvSpPr>
          <p:nvPr/>
        </p:nvSpPr>
        <p:spPr>
          <a:xfrm xmlns:a="http://schemas.openxmlformats.org/drawingml/2006/main">
            <a:off x="6257925" y="352425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07  Request capacity and time</a:t>
            </a:r>
          </a:p>
        </p:txBody>
      </p:sp>
      <p:sp>
        <p:nvSpPr>
          <p:cNvPr id="16" name="">
            <a:extLst xmlns:a="http://schemas.openxmlformats.org/drawingml/2006/main">
              <a:ext uri="{FF2B5EF4-FFF2-40B4-BE49-F238E27FC236}">
                <a16:creationId xmlns:a16="http://schemas.microsoft.com/office/drawing/2014/main" id="{6D5E4C02-859F-478E-82F3-DF5B07DCF4E7}"/>
              </a:ext>
            </a:extLst>
          </p:cNvPr>
          <p:cNvSpPr>
            <a:spLocks xmlns:a="http://schemas.openxmlformats.org/drawingml/2006/main" noGrp="1"/>
          </p:cNvSpPr>
          <p:nvPr/>
        </p:nvSpPr>
        <p:spPr>
          <a:xfrm xmlns:a="http://schemas.openxmlformats.org/drawingml/2006/main">
            <a:off x="6257925" y="3876675"/>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5,000 ms worker timeout, 8 workers, 60 requests/min/IP.</a:t>
            </a:r>
          </a:p>
        </p:txBody>
      </p:sp>
      <p:sp>
        <p:nvSpPr>
          <p:cNvPr id="17" name="">
            <a:extLst xmlns:a="http://schemas.openxmlformats.org/drawingml/2006/main">
              <a:ext uri="{FF2B5EF4-FFF2-40B4-BE49-F238E27FC236}">
                <a16:creationId xmlns:a16="http://schemas.microsoft.com/office/drawing/2014/main" id="{D8B2A5B4-20C0-4603-B0F5-6387C9C87DF8}"/>
              </a:ext>
            </a:extLst>
          </p:cNvPr>
          <p:cNvSpPr>
            <a:spLocks xmlns:a="http://schemas.openxmlformats.org/drawingml/2006/main" noGrp="1"/>
          </p:cNvSpPr>
          <p:nvPr/>
        </p:nvSpPr>
        <p:spPr>
          <a:xfrm xmlns:a="http://schemas.openxmlformats.org/drawingml/2006/main">
            <a:off x="6257925" y="455295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08  Continuation integrity</a:t>
            </a:r>
          </a:p>
        </p:txBody>
      </p:sp>
      <p:sp>
        <p:nvSpPr>
          <p:cNvPr id="18" name="">
            <a:extLst xmlns:a="http://schemas.openxmlformats.org/drawingml/2006/main">
              <a:ext uri="{FF2B5EF4-FFF2-40B4-BE49-F238E27FC236}">
                <a16:creationId xmlns:a16="http://schemas.microsoft.com/office/drawing/2014/main" id="{7A217B4E-242D-4D99-B1AD-0C113EFE963F}"/>
              </a:ext>
            </a:extLst>
          </p:cNvPr>
          <p:cNvSpPr>
            <a:spLocks xmlns:a="http://schemas.openxmlformats.org/drawingml/2006/main" noGrp="1"/>
          </p:cNvSpPr>
          <p:nvPr/>
        </p:nvSpPr>
        <p:spPr>
          <a:xfrm xmlns:a="http://schemas.openxmlformats.org/drawingml/2006/main">
            <a:off x="6257925" y="4905375"/>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Signed GraphQL cursor, query binding, remaining budget.</a:t>
            </a:r>
          </a:p>
        </p:txBody>
      </p:sp>
      <p:sp>
        <p:nvSpPr>
          <p:cNvPr id="19" name="">
            <a:extLst xmlns:a="http://schemas.openxmlformats.org/drawingml/2006/main">
              <a:ext uri="{FF2B5EF4-FFF2-40B4-BE49-F238E27FC236}">
                <a16:creationId xmlns:a16="http://schemas.microsoft.com/office/drawing/2014/main" id="{27BC0091-7796-41CC-8A01-8F70B029766E}"/>
              </a:ext>
            </a:extLst>
          </p:cNvPr>
          <p:cNvSpPr>
            <a:spLocks xmlns:a="http://schemas.openxmlformats.org/drawingml/2006/main" noGrp="1"/>
          </p:cNvSpPr>
          <p:nvPr/>
        </p:nvSpPr>
        <p:spPr>
          <a:xfrm xmlns:a="http://schemas.openxmlformats.org/drawingml/2006/main">
            <a:off x="609600" y="59626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16776"/>
                </a:solidFill>
                <a:latin typeface="Helvetica Neue"/>
                <a:ea typeface="Helvetica Neue"/>
                <a:cs typeface="Helvetica Neue"/>
              </a:defRPr>
            </a:pPr>
            <a:r>
              <a:rPr sz="1725" b="0">
                <a:solidFill>
                  <a:srgbClr val="516776"/>
                </a:solidFill>
                <a:latin typeface="Helvetica Neue"/>
                <a:ea typeface="Helvetica Neue"/>
                <a:cs typeface="Helvetica Neue"/>
              </a:rPr>
              <a:t>Core defines policy. HTTP/JDBC adapters enforce runtime controls. Counts receive the same plan checks.</a:t>
            </a:r>
          </a:p>
        </p:txBody>
      </p:sp>
    </p:spTree>
    <p:extLst>
      <p:ext uri="{BB962C8B-B14F-4D97-AF65-F5344CB8AC3E}">
        <p14:creationId xmlns:p14="http://schemas.microsoft.com/office/powerpoint/2010/main" val="1829234788"/>
      </p:ext>
    </p:extLst>
  </p:cSld>
</p:sld>
</file>

<file path=ppt/slides/slide5.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38F26E8-4145-4144-B1F8-472844CF0E4D}"/>
              </a:ext>
            </a:extLst>
          </p:cNvPr>
          <p:cNvSpPr>
            <a:spLocks xmlns:a="http://schemas.openxmlformats.org/drawingml/2006/main" noGrp="1"/>
          </p:cNvSpPr>
          <p:nvPr/>
        </p:nvSpPr>
        <p:spPr>
          <a:xfrm xmlns:a="http://schemas.openxmlformats.org/drawingml/2006/main">
            <a:off x="609600" y="3810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03D"/>
                </a:solidFill>
                <a:latin typeface="Helvetica Neue"/>
                <a:ea typeface="Helvetica Neue"/>
                <a:cs typeface="Helvetica Neue"/>
              </a:defRPr>
            </a:pPr>
            <a:r>
              <a:rPr sz="3300" b="1">
                <a:solidFill>
                  <a:srgbClr val="18303D"/>
                </a:solidFill>
                <a:latin typeface="Helvetica Neue"/>
                <a:ea typeface="Helvetica Neue"/>
                <a:cs typeface="Helvetica Neue"/>
              </a:rPr>
              <a:t>Query Core can run independently</a:t>
            </a:r>
          </a:p>
        </p:txBody>
      </p:sp>
      <p:sp>
        <p:nvSpPr>
          <p:cNvPr id="2" name="">
            <a:extLst xmlns:a="http://schemas.openxmlformats.org/drawingml/2006/main">
              <a:ext uri="{FF2B5EF4-FFF2-40B4-BE49-F238E27FC236}">
                <a16:creationId xmlns:a16="http://schemas.microsoft.com/office/drawing/2014/main" id="{E788E4EB-C4C5-4058-B16C-B4682B7AAB33}"/>
              </a:ext>
            </a:extLst>
          </p:cNvPr>
          <p:cNvSpPr>
            <a:spLocks xmlns:a="http://schemas.openxmlformats.org/drawingml/2006/main" noGrp="1"/>
          </p:cNvSpPr>
          <p:nvPr/>
        </p:nvSpPr>
        <p:spPr>
          <a:xfrm xmlns:a="http://schemas.openxmlformats.org/drawingml/2006/main">
            <a:off x="11144250"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6"/>
                </a:solidFill>
                <a:latin typeface="Helvetica Neue"/>
                <a:ea typeface="Helvetica Neue"/>
                <a:cs typeface="Helvetica Neue"/>
              </a:defRPr>
            </a:pPr>
            <a:r>
              <a:rPr sz="1350" b="0">
                <a:solidFill>
                  <a:srgbClr val="516776"/>
                </a:solidFill>
                <a:latin typeface="Helvetica Neue"/>
                <a:ea typeface="Helvetica Neue"/>
                <a:cs typeface="Helvetica Neue"/>
              </a:rPr>
              <a:t>5</a:t>
            </a:r>
          </a:p>
        </p:txBody>
      </p:sp>
      <p:sp>
        <p:nvSpPr>
          <p:cNvPr id="3" name="">
            <a:extLst xmlns:a="http://schemas.openxmlformats.org/drawingml/2006/main">
              <a:ext uri="{FF2B5EF4-FFF2-40B4-BE49-F238E27FC236}">
                <a16:creationId xmlns:a16="http://schemas.microsoft.com/office/drawing/2014/main" id="{38387A87-609F-40CB-94F3-C4A71AA1D1B2}"/>
              </a:ext>
            </a:extLst>
          </p:cNvPr>
          <p:cNvSpPr>
            <a:spLocks xmlns:a="http://schemas.openxmlformats.org/drawingml/2006/main" noGrp="1"/>
          </p:cNvSpPr>
          <p:nvPr/>
        </p:nvSpPr>
        <p:spPr>
          <a:xfrm xmlns:a="http://schemas.openxmlformats.org/drawingml/2006/main">
            <a:off x="609600" y="14573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87F83"/>
                </a:solidFill>
                <a:latin typeface="Helvetica Neue"/>
                <a:ea typeface="Helvetica Neue"/>
                <a:cs typeface="Helvetica Neue"/>
              </a:defRPr>
            </a:pPr>
            <a:r>
              <a:rPr sz="2625" b="1">
                <a:solidFill>
                  <a:srgbClr val="087F83"/>
                </a:solidFill>
                <a:latin typeface="Helvetica Neue"/>
                <a:ea typeface="Helvetica Neue"/>
                <a:cs typeface="Helvetica Neue"/>
              </a:rPr>
              <a:t>Yes. A Java 8-compatible library with no framework dependencies.</a:t>
            </a:r>
          </a:p>
        </p:txBody>
      </p:sp>
      <p:sp>
        <p:nvSpPr>
          <p:cNvPr id="4" name="">
            <a:extLst xmlns:a="http://schemas.openxmlformats.org/drawingml/2006/main">
              <a:ext uri="{FF2B5EF4-FFF2-40B4-BE49-F238E27FC236}">
                <a16:creationId xmlns:a16="http://schemas.microsoft.com/office/drawing/2014/main" id="{EBCCD280-4C67-4AC0-A9D5-92CFACD89D89}"/>
              </a:ext>
            </a:extLst>
          </p:cNvPr>
          <p:cNvSpPr>
            <a:spLocks xmlns:a="http://schemas.openxmlformats.org/drawingml/2006/main" noGrp="1"/>
          </p:cNvSpPr>
          <p:nvPr/>
        </p:nvSpPr>
        <p:spPr>
          <a:xfrm xmlns:a="http://schemas.openxmlformats.org/drawingml/2006/main">
            <a:off x="609600" y="25622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Reuse across existing APIs</a:t>
            </a:r>
          </a:p>
        </p:txBody>
      </p:sp>
      <p:sp>
        <p:nvSpPr>
          <p:cNvPr id="5" name="">
            <a:extLst xmlns:a="http://schemas.openxmlformats.org/drawingml/2006/main">
              <a:ext uri="{FF2B5EF4-FFF2-40B4-BE49-F238E27FC236}">
                <a16:creationId xmlns:a16="http://schemas.microsoft.com/office/drawing/2014/main" id="{90AEA19F-5217-4177-A7F8-821280D5C893}"/>
              </a:ext>
            </a:extLst>
          </p:cNvPr>
          <p:cNvSpPr>
            <a:spLocks xmlns:a="http://schemas.openxmlformats.org/drawingml/2006/main" noGrp="1"/>
          </p:cNvSpPr>
          <p:nvPr/>
        </p:nvSpPr>
        <p:spPr>
          <a:xfrm xmlns:a="http://schemas.openxmlformats.org/drawingml/2006/main">
            <a:off x="609600" y="29146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Custom REST endpoints, jobs, or other adapters can call the same rules.</a:t>
            </a:r>
          </a:p>
        </p:txBody>
      </p:sp>
      <p:sp>
        <p:nvSpPr>
          <p:cNvPr id="6" name="">
            <a:extLst xmlns:a="http://schemas.openxmlformats.org/drawingml/2006/main">
              <a:ext uri="{FF2B5EF4-FFF2-40B4-BE49-F238E27FC236}">
                <a16:creationId xmlns:a16="http://schemas.microsoft.com/office/drawing/2014/main" id="{3D489F0D-A27A-4730-8A81-97E2DFD79DF9}"/>
              </a:ext>
            </a:extLst>
          </p:cNvPr>
          <p:cNvSpPr>
            <a:spLocks xmlns:a="http://schemas.openxmlformats.org/drawingml/2006/main" noGrp="1"/>
          </p:cNvSpPr>
          <p:nvPr/>
        </p:nvSpPr>
        <p:spPr>
          <a:xfrm xmlns:a="http://schemas.openxmlformats.org/drawingml/2006/main">
            <a:off x="609600" y="34004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Test rules without a server or database</a:t>
            </a:r>
          </a:p>
        </p:txBody>
      </p:sp>
      <p:sp>
        <p:nvSpPr>
          <p:cNvPr id="7" name="">
            <a:extLst xmlns:a="http://schemas.openxmlformats.org/drawingml/2006/main">
              <a:ext uri="{FF2B5EF4-FFF2-40B4-BE49-F238E27FC236}">
                <a16:creationId xmlns:a16="http://schemas.microsoft.com/office/drawing/2014/main" id="{79317BAB-72A9-49B8-8522-C966AA6CB8C1}"/>
              </a:ext>
            </a:extLst>
          </p:cNvPr>
          <p:cNvSpPr>
            <a:spLocks xmlns:a="http://schemas.openxmlformats.org/drawingml/2006/main" noGrp="1"/>
          </p:cNvSpPr>
          <p:nvPr/>
        </p:nvSpPr>
        <p:spPr>
          <a:xfrm xmlns:a="http://schemas.openxmlformats.org/drawingml/2006/main">
            <a:off x="609600" y="37528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Evaluate field permissions, paging arithmetic, cursors, and plan descriptors.</a:t>
            </a:r>
          </a:p>
        </p:txBody>
      </p:sp>
      <p:sp>
        <p:nvSpPr>
          <p:cNvPr id="8" name="">
            <a:extLst xmlns:a="http://schemas.openxmlformats.org/drawingml/2006/main">
              <a:ext uri="{FF2B5EF4-FFF2-40B4-BE49-F238E27FC236}">
                <a16:creationId xmlns:a16="http://schemas.microsoft.com/office/drawing/2014/main" id="{AA33D588-1D14-45B8-B5B2-91378E1986F5}"/>
              </a:ext>
            </a:extLst>
          </p:cNvPr>
          <p:cNvSpPr>
            <a:spLocks xmlns:a="http://schemas.openxmlformats.org/drawingml/2006/main" noGrp="1"/>
          </p:cNvSpPr>
          <p:nvPr/>
        </p:nvSpPr>
        <p:spPr>
          <a:xfrm xmlns:a="http://schemas.openxmlformats.org/drawingml/2006/main">
            <a:off x="609600" y="42386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Keep policy consistent across runtimes</a:t>
            </a:r>
          </a:p>
        </p:txBody>
      </p:sp>
      <p:sp>
        <p:nvSpPr>
          <p:cNvPr id="9" name="">
            <a:extLst xmlns:a="http://schemas.openxmlformats.org/drawingml/2006/main">
              <a:ext uri="{FF2B5EF4-FFF2-40B4-BE49-F238E27FC236}">
                <a16:creationId xmlns:a16="http://schemas.microsoft.com/office/drawing/2014/main" id="{E577F7DD-1AFE-4C98-A173-974101E41DB8}"/>
              </a:ext>
            </a:extLst>
          </p:cNvPr>
          <p:cNvSpPr>
            <a:spLocks xmlns:a="http://schemas.openxmlformats.org/drawingml/2006/main" noGrp="1"/>
          </p:cNvSpPr>
          <p:nvPr/>
        </p:nvSpPr>
        <p:spPr>
          <a:xfrm xmlns:a="http://schemas.openxmlformats.org/drawingml/2006/main">
            <a:off x="609600" y="4591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Java 8, 17, and 21 adapters share the same core contracts.</a:t>
            </a:r>
          </a:p>
        </p:txBody>
      </p:sp>
      <p:sp>
        <p:nvSpPr>
          <p:cNvPr id="10" name="">
            <a:extLst xmlns:a="http://schemas.openxmlformats.org/drawingml/2006/main">
              <a:ext uri="{FF2B5EF4-FFF2-40B4-BE49-F238E27FC236}">
                <a16:creationId xmlns:a16="http://schemas.microsoft.com/office/drawing/2014/main" id="{10994563-9FB8-4482-8AAC-61782E61F6F5}"/>
              </a:ext>
            </a:extLst>
          </p:cNvPr>
          <p:cNvSpPr>
            <a:spLocks xmlns:a="http://schemas.openxmlformats.org/drawingml/2006/main" noGrp="1"/>
          </p:cNvSpPr>
          <p:nvPr/>
        </p:nvSpPr>
        <p:spPr>
          <a:xfrm xmlns:a="http://schemas.openxmlformats.org/drawingml/2006/main">
            <a:off x="609600" y="5076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Supply the integration boundary</a:t>
            </a:r>
          </a:p>
        </p:txBody>
      </p:sp>
      <p:sp>
        <p:nvSpPr>
          <p:cNvPr id="11" name="">
            <a:extLst xmlns:a="http://schemas.openxmlformats.org/drawingml/2006/main">
              <a:ext uri="{FF2B5EF4-FFF2-40B4-BE49-F238E27FC236}">
                <a16:creationId xmlns:a16="http://schemas.microsoft.com/office/drawing/2014/main" id="{22832883-745A-4989-82C6-E450B49FC1F7}"/>
              </a:ext>
            </a:extLst>
          </p:cNvPr>
          <p:cNvSpPr>
            <a:spLocks xmlns:a="http://schemas.openxmlformats.org/drawingml/2006/main" noGrp="1"/>
          </p:cNvSpPr>
          <p:nvPr/>
        </p:nvSpPr>
        <p:spPr>
          <a:xfrm xmlns:a="http://schemas.openxmlformats.org/drawingml/2006/main">
            <a:off x="609600" y="54292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Your adapter parses queries, inspects plans, and enforces timeouts.</a:t>
            </a:r>
          </a:p>
        </p:txBody>
      </p:sp>
    </p:spTree>
    <p:extLst>
      <p:ext uri="{BB962C8B-B14F-4D97-AF65-F5344CB8AC3E}">
        <p14:creationId xmlns:p14="http://schemas.microsoft.com/office/powerpoint/2010/main" val="1963924211"/>
      </p:ext>
    </p:extLst>
  </p:cSld>
</p:sld>
</file>

<file path=ppt/slides/slide6.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6674BDB-EFEA-41E2-AB7B-A191B3FAECEA}"/>
              </a:ext>
            </a:extLst>
          </p:cNvPr>
          <p:cNvSpPr>
            <a:spLocks xmlns:a="http://schemas.openxmlformats.org/drawingml/2006/main" noGrp="1"/>
          </p:cNvSpPr>
          <p:nvPr/>
        </p:nvSpPr>
        <p:spPr>
          <a:xfrm xmlns:a="http://schemas.openxmlformats.org/drawingml/2006/main">
            <a:off x="609600" y="3810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03D"/>
                </a:solidFill>
                <a:latin typeface="Helvetica Neue"/>
                <a:ea typeface="Helvetica Neue"/>
                <a:cs typeface="Helvetica Neue"/>
              </a:defRPr>
            </a:pPr>
            <a:r>
              <a:rPr sz="3300" b="1">
                <a:solidFill>
                  <a:srgbClr val="18303D"/>
                </a:solidFill>
                <a:latin typeface="Helvetica Neue"/>
                <a:ea typeface="Helvetica Neue"/>
                <a:cs typeface="Helvetica Neue"/>
              </a:rPr>
              <a:t>OData benefits for these concerns</a:t>
            </a:r>
          </a:p>
        </p:txBody>
      </p:sp>
      <p:sp>
        <p:nvSpPr>
          <p:cNvPr id="2" name="">
            <a:extLst xmlns:a="http://schemas.openxmlformats.org/drawingml/2006/main">
              <a:ext uri="{FF2B5EF4-FFF2-40B4-BE49-F238E27FC236}">
                <a16:creationId xmlns:a16="http://schemas.microsoft.com/office/drawing/2014/main" id="{5312E331-8C84-4812-9575-16BF83F80CB2}"/>
              </a:ext>
            </a:extLst>
          </p:cNvPr>
          <p:cNvSpPr>
            <a:spLocks xmlns:a="http://schemas.openxmlformats.org/drawingml/2006/main" noGrp="1"/>
          </p:cNvSpPr>
          <p:nvPr/>
        </p:nvSpPr>
        <p:spPr>
          <a:xfrm xmlns:a="http://schemas.openxmlformats.org/drawingml/2006/main">
            <a:off x="11144250"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6"/>
                </a:solidFill>
                <a:latin typeface="Helvetica Neue"/>
                <a:ea typeface="Helvetica Neue"/>
                <a:cs typeface="Helvetica Neue"/>
              </a:defRPr>
            </a:pPr>
            <a:r>
              <a:rPr sz="1350" b="0">
                <a:solidFill>
                  <a:srgbClr val="516776"/>
                </a:solidFill>
                <a:latin typeface="Helvetica Neue"/>
                <a:ea typeface="Helvetica Neue"/>
                <a:cs typeface="Helvetica Neue"/>
              </a:rPr>
              <a:t>6</a:t>
            </a:r>
          </a:p>
        </p:txBody>
      </p:sp>
      <p:sp>
        <p:nvSpPr>
          <p:cNvPr id="3" name="">
            <a:extLst xmlns:a="http://schemas.openxmlformats.org/drawingml/2006/main">
              <a:ext uri="{FF2B5EF4-FFF2-40B4-BE49-F238E27FC236}">
                <a16:creationId xmlns:a16="http://schemas.microsoft.com/office/drawing/2014/main" id="{6B59B11C-E8D6-45B6-BFE0-E8898B584A16}"/>
              </a:ext>
            </a:extLst>
          </p:cNvPr>
          <p:cNvSpPr>
            <a:spLocks xmlns:a="http://schemas.openxmlformats.org/drawingml/2006/main" noGrp="1"/>
          </p:cNvSpPr>
          <p:nvPr/>
        </p:nvSpPr>
        <p:spPr>
          <a:xfrm xmlns:a="http://schemas.openxmlformats.org/drawingml/2006/main">
            <a:off x="609600" y="14478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A standard query contract</a:t>
            </a:r>
          </a:p>
        </p:txBody>
      </p:sp>
      <p:sp>
        <p:nvSpPr>
          <p:cNvPr id="4" name="">
            <a:extLst xmlns:a="http://schemas.openxmlformats.org/drawingml/2006/main">
              <a:ext uri="{FF2B5EF4-FFF2-40B4-BE49-F238E27FC236}">
                <a16:creationId xmlns:a16="http://schemas.microsoft.com/office/drawing/2014/main" id="{F7FFC206-77B3-41A4-A61C-EA8C6879E25F}"/>
              </a:ext>
            </a:extLst>
          </p:cNvPr>
          <p:cNvSpPr>
            <a:spLocks xmlns:a="http://schemas.openxmlformats.org/drawingml/2006/main" noGrp="1"/>
          </p:cNvSpPr>
          <p:nvPr/>
        </p:nvSpPr>
        <p:spPr>
          <a:xfrm xmlns:a="http://schemas.openxmlformats.org/drawingml/2006/main">
            <a:off x="609600" y="18002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One Movies resource supports allowed filter, sort, select, and paging variants.</a:t>
            </a:r>
          </a:p>
        </p:txBody>
      </p:sp>
      <p:sp>
        <p:nvSpPr>
          <p:cNvPr id="5" name="">
            <a:extLst xmlns:a="http://schemas.openxmlformats.org/drawingml/2006/main">
              <a:ext uri="{FF2B5EF4-FFF2-40B4-BE49-F238E27FC236}">
                <a16:creationId xmlns:a16="http://schemas.microsoft.com/office/drawing/2014/main" id="{D4A1EB31-3142-4994-8368-1992673ABD8C}"/>
              </a:ext>
            </a:extLst>
          </p:cNvPr>
          <p:cNvSpPr>
            <a:spLocks xmlns:a="http://schemas.openxmlformats.org/drawingml/2006/main" noGrp="1"/>
          </p:cNvSpPr>
          <p:nvPr/>
        </p:nvSpPr>
        <p:spPr>
          <a:xfrm xmlns:a="http://schemas.openxmlformats.org/drawingml/2006/main">
            <a:off x="609600" y="23622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Less custom endpoint code</a:t>
            </a:r>
          </a:p>
        </p:txBody>
      </p:sp>
      <p:sp>
        <p:nvSpPr>
          <p:cNvPr id="6" name="">
            <a:extLst xmlns:a="http://schemas.openxmlformats.org/drawingml/2006/main">
              <a:ext uri="{FF2B5EF4-FFF2-40B4-BE49-F238E27FC236}">
                <a16:creationId xmlns:a16="http://schemas.microsoft.com/office/drawing/2014/main" id="{71C6946F-115F-4801-A0F2-9AFED8EA425C}"/>
              </a:ext>
            </a:extLst>
          </p:cNvPr>
          <p:cNvSpPr>
            <a:spLocks xmlns:a="http://schemas.openxmlformats.org/drawingml/2006/main" noGrp="1"/>
          </p:cNvSpPr>
          <p:nvPr/>
        </p:nvSpPr>
        <p:spPr>
          <a:xfrm xmlns:a="http://schemas.openxmlformats.org/drawingml/2006/main">
            <a:off x="609600" y="27146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SAP/Olingo handles OData semantics and JPA-based SQL generation.</a:t>
            </a:r>
          </a:p>
        </p:txBody>
      </p:sp>
      <p:sp>
        <p:nvSpPr>
          <p:cNvPr id="7" name="">
            <a:extLst xmlns:a="http://schemas.openxmlformats.org/drawingml/2006/main">
              <a:ext uri="{FF2B5EF4-FFF2-40B4-BE49-F238E27FC236}">
                <a16:creationId xmlns:a16="http://schemas.microsoft.com/office/drawing/2014/main" id="{D585DDB0-F04A-4159-9F2B-C226A712C943}"/>
              </a:ext>
            </a:extLst>
          </p:cNvPr>
          <p:cNvSpPr>
            <a:spLocks xmlns:a="http://schemas.openxmlformats.org/drawingml/2006/main" noGrp="1"/>
          </p:cNvSpPr>
          <p:nvPr/>
        </p:nvSpPr>
        <p:spPr>
          <a:xfrm xmlns:a="http://schemas.openxmlformats.org/drawingml/2006/main">
            <a:off x="609600" y="32766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A discoverable data model</a:t>
            </a:r>
          </a:p>
        </p:txBody>
      </p:sp>
      <p:sp>
        <p:nvSpPr>
          <p:cNvPr id="8" name="">
            <a:extLst xmlns:a="http://schemas.openxmlformats.org/drawingml/2006/main">
              <a:ext uri="{FF2B5EF4-FFF2-40B4-BE49-F238E27FC236}">
                <a16:creationId xmlns:a16="http://schemas.microsoft.com/office/drawing/2014/main" id="{DAD15F7A-E8B3-4035-A1EB-A86CF5CF2A5A}"/>
              </a:ext>
            </a:extLst>
          </p:cNvPr>
          <p:cNvSpPr>
            <a:spLocks xmlns:a="http://schemas.openxmlformats.org/drawingml/2006/main" noGrp="1"/>
          </p:cNvSpPr>
          <p:nvPr/>
        </p:nvSpPr>
        <p:spPr>
          <a:xfrm xmlns:a="http://schemas.openxmlformats.org/drawingml/2006/main">
            <a:off x="609600" y="36290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Service metadata describes public movie properties and the director relationship.</a:t>
            </a:r>
          </a:p>
        </p:txBody>
      </p:sp>
      <p:sp>
        <p:nvSpPr>
          <p:cNvPr id="9" name="">
            <a:extLst xmlns:a="http://schemas.openxmlformats.org/drawingml/2006/main">
              <a:ext uri="{FF2B5EF4-FFF2-40B4-BE49-F238E27FC236}">
                <a16:creationId xmlns:a16="http://schemas.microsoft.com/office/drawing/2014/main" id="{D9F8813F-A5A7-4828-8B95-9909CC1A8E36}"/>
              </a:ext>
            </a:extLst>
          </p:cNvPr>
          <p:cNvSpPr>
            <a:spLocks xmlns:a="http://schemas.openxmlformats.org/drawingml/2006/main" noGrp="1"/>
          </p:cNvSpPr>
          <p:nvPr/>
        </p:nvSpPr>
        <p:spPr>
          <a:xfrm xmlns:a="http://schemas.openxmlformats.org/drawingml/2006/main">
            <a:off x="609600" y="41910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Controlled query flexibility</a:t>
            </a:r>
          </a:p>
        </p:txBody>
      </p:sp>
      <p:sp>
        <p:nvSpPr>
          <p:cNvPr id="10" name="">
            <a:extLst xmlns:a="http://schemas.openxmlformats.org/drawingml/2006/main">
              <a:ext uri="{FF2B5EF4-FFF2-40B4-BE49-F238E27FC236}">
                <a16:creationId xmlns:a16="http://schemas.microsoft.com/office/drawing/2014/main" id="{50C26EAD-0FF9-40AA-8192-2CD31FB67614}"/>
              </a:ext>
            </a:extLst>
          </p:cNvPr>
          <p:cNvSpPr>
            <a:spLocks xmlns:a="http://schemas.openxmlformats.org/drawingml/2006/main" noGrp="1"/>
          </p:cNvSpPr>
          <p:nvPr/>
        </p:nvSpPr>
        <p:spPr>
          <a:xfrm xmlns:a="http://schemas.openxmlformats.org/drawingml/2006/main">
            <a:off x="609600" y="45434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The adapter restricts syntax and fields before SAP processing.</a:t>
            </a:r>
          </a:p>
        </p:txBody>
      </p:sp>
      <p:sp>
        <p:nvSpPr>
          <p:cNvPr id="11" name="">
            <a:extLst xmlns:a="http://schemas.openxmlformats.org/drawingml/2006/main">
              <a:ext uri="{FF2B5EF4-FFF2-40B4-BE49-F238E27FC236}">
                <a16:creationId xmlns:a16="http://schemas.microsoft.com/office/drawing/2014/main" id="{CC0D854A-93EA-4872-8E8F-7ED065A210E4}"/>
              </a:ext>
            </a:extLst>
          </p:cNvPr>
          <p:cNvSpPr>
            <a:spLocks xmlns:a="http://schemas.openxmlformats.org/drawingml/2006/main" noGrp="1"/>
          </p:cNvSpPr>
          <p:nvPr/>
        </p:nvSpPr>
        <p:spPr>
          <a:xfrm xmlns:a="http://schemas.openxmlformats.org/drawingml/2006/main">
            <a:off x="609600" y="51054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Protection for generated SQL</a:t>
            </a:r>
          </a:p>
        </p:txBody>
      </p:sp>
      <p:sp>
        <p:nvSpPr>
          <p:cNvPr id="12" name="">
            <a:extLst xmlns:a="http://schemas.openxmlformats.org/drawingml/2006/main">
              <a:ext uri="{FF2B5EF4-FFF2-40B4-BE49-F238E27FC236}">
                <a16:creationId xmlns:a16="http://schemas.microsoft.com/office/drawing/2014/main" id="{C7B47A19-AA64-4D6F-A98D-FE9ABF445718}"/>
              </a:ext>
            </a:extLst>
          </p:cNvPr>
          <p:cNvSpPr>
            <a:spLocks xmlns:a="http://schemas.openxmlformats.org/drawingml/2006/main" noGrp="1"/>
          </p:cNvSpPr>
          <p:nvPr/>
        </p:nvSpPr>
        <p:spPr>
          <a:xfrm xmlns:a="http://schemas.openxmlformats.org/drawingml/2006/main">
            <a:off x="609600" y="54578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The shared JDBC boundary checks data queries and internal paging counts.</a:t>
            </a:r>
          </a:p>
        </p:txBody>
      </p:sp>
    </p:spTree>
    <p:extLst>
      <p:ext uri="{BB962C8B-B14F-4D97-AF65-F5344CB8AC3E}">
        <p14:creationId xmlns:p14="http://schemas.microsoft.com/office/powerpoint/2010/main" val="1479423871"/>
      </p:ext>
    </p:extLst>
  </p:cSld>
</p:sld>
</file>

<file path=ppt/slides/slide7.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19C100-1CDE-406A-B0AA-B66693D2AB61}"/>
              </a:ext>
            </a:extLst>
          </p:cNvPr>
          <p:cNvSpPr>
            <a:spLocks xmlns:a="http://schemas.openxmlformats.org/drawingml/2006/main" noGrp="1"/>
          </p:cNvSpPr>
          <p:nvPr/>
        </p:nvSpPr>
        <p:spPr>
          <a:xfrm xmlns:a="http://schemas.openxmlformats.org/drawingml/2006/main">
            <a:off x="609600" y="3810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03D"/>
                </a:solidFill>
                <a:latin typeface="Helvetica Neue"/>
                <a:ea typeface="Helvetica Neue"/>
                <a:cs typeface="Helvetica Neue"/>
              </a:defRPr>
            </a:pPr>
            <a:r>
              <a:rPr sz="3300" b="1">
                <a:solidFill>
                  <a:srgbClr val="18303D"/>
                </a:solidFill>
                <a:latin typeface="Helvetica Neue"/>
                <a:ea typeface="Helvetica Neue"/>
                <a:cs typeface="Helvetica Neue"/>
              </a:rPr>
              <a:t>GraphQL benefits for these concerns</a:t>
            </a:r>
          </a:p>
        </p:txBody>
      </p:sp>
      <p:sp>
        <p:nvSpPr>
          <p:cNvPr id="2" name="">
            <a:extLst xmlns:a="http://schemas.openxmlformats.org/drawingml/2006/main">
              <a:ext uri="{FF2B5EF4-FFF2-40B4-BE49-F238E27FC236}">
                <a16:creationId xmlns:a16="http://schemas.microsoft.com/office/drawing/2014/main" id="{140225A7-B8DC-4FF5-8C8C-BFFC33FE303D}"/>
              </a:ext>
            </a:extLst>
          </p:cNvPr>
          <p:cNvSpPr>
            <a:spLocks xmlns:a="http://schemas.openxmlformats.org/drawingml/2006/main" noGrp="1"/>
          </p:cNvSpPr>
          <p:nvPr/>
        </p:nvSpPr>
        <p:spPr>
          <a:xfrm xmlns:a="http://schemas.openxmlformats.org/drawingml/2006/main">
            <a:off x="11144250"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6"/>
                </a:solidFill>
                <a:latin typeface="Helvetica Neue"/>
                <a:ea typeface="Helvetica Neue"/>
                <a:cs typeface="Helvetica Neue"/>
              </a:defRPr>
            </a:pPr>
            <a:r>
              <a:rPr sz="1350" b="0">
                <a:solidFill>
                  <a:srgbClr val="516776"/>
                </a:solidFill>
                <a:latin typeface="Helvetica Neue"/>
                <a:ea typeface="Helvetica Neue"/>
                <a:cs typeface="Helvetica Neue"/>
              </a:rPr>
              <a:t>7</a:t>
            </a:r>
          </a:p>
        </p:txBody>
      </p:sp>
      <p:sp>
        <p:nvSpPr>
          <p:cNvPr id="3" name="">
            <a:extLst xmlns:a="http://schemas.openxmlformats.org/drawingml/2006/main">
              <a:ext uri="{FF2B5EF4-FFF2-40B4-BE49-F238E27FC236}">
                <a16:creationId xmlns:a16="http://schemas.microsoft.com/office/drawing/2014/main" id="{B015CAEB-01AC-4528-8D5D-6B0C8DD87C19}"/>
              </a:ext>
            </a:extLst>
          </p:cNvPr>
          <p:cNvSpPr>
            <a:spLocks xmlns:a="http://schemas.openxmlformats.org/drawingml/2006/main" noGrp="1"/>
          </p:cNvSpPr>
          <p:nvPr/>
        </p:nvSpPr>
        <p:spPr>
          <a:xfrm xmlns:a="http://schemas.openxmlformats.org/drawingml/2006/main">
            <a:off x="609600" y="14478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One typed schema supports client variations</a:t>
            </a:r>
          </a:p>
        </p:txBody>
      </p:sp>
      <p:sp>
        <p:nvSpPr>
          <p:cNvPr id="4" name="">
            <a:extLst xmlns:a="http://schemas.openxmlformats.org/drawingml/2006/main">
              <a:ext uri="{FF2B5EF4-FFF2-40B4-BE49-F238E27FC236}">
                <a16:creationId xmlns:a16="http://schemas.microsoft.com/office/drawing/2014/main" id="{68EB6BFF-3F7A-49E7-A602-1D4C0C210383}"/>
              </a:ext>
            </a:extLst>
          </p:cNvPr>
          <p:cNvSpPr>
            <a:spLocks xmlns:a="http://schemas.openxmlformats.org/drawingml/2006/main" noGrp="1"/>
          </p:cNvSpPr>
          <p:nvPr/>
        </p:nvSpPr>
        <p:spPr>
          <a:xfrm xmlns:a="http://schemas.openxmlformats.org/drawingml/2006/main">
            <a:off x="609600" y="18002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Clients choose response fields without adding a bespoke endpoint for each view.</a:t>
            </a:r>
          </a:p>
        </p:txBody>
      </p:sp>
      <p:sp>
        <p:nvSpPr>
          <p:cNvPr id="5" name="">
            <a:extLst xmlns:a="http://schemas.openxmlformats.org/drawingml/2006/main">
              <a:ext uri="{FF2B5EF4-FFF2-40B4-BE49-F238E27FC236}">
                <a16:creationId xmlns:a16="http://schemas.microsoft.com/office/drawing/2014/main" id="{AECA15CF-D09A-41C4-9063-127B342DCFF7}"/>
              </a:ext>
            </a:extLst>
          </p:cNvPr>
          <p:cNvSpPr>
            <a:spLocks xmlns:a="http://schemas.openxmlformats.org/drawingml/2006/main" noGrp="1"/>
          </p:cNvSpPr>
          <p:nvPr/>
        </p:nvSpPr>
        <p:spPr>
          <a:xfrm xmlns:a="http://schemas.openxmlformats.org/drawingml/2006/main">
            <a:off x="609600" y="23622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Related data in one request</a:t>
            </a:r>
          </a:p>
        </p:txBody>
      </p:sp>
      <p:sp>
        <p:nvSpPr>
          <p:cNvPr id="6" name="">
            <a:extLst xmlns:a="http://schemas.openxmlformats.org/drawingml/2006/main">
              <a:ext uri="{FF2B5EF4-FFF2-40B4-BE49-F238E27FC236}">
                <a16:creationId xmlns:a16="http://schemas.microsoft.com/office/drawing/2014/main" id="{78FB74C4-AA2A-42D0-BF9A-9E1A589E4943}"/>
              </a:ext>
            </a:extLst>
          </p:cNvPr>
          <p:cNvSpPr>
            <a:spLocks xmlns:a="http://schemas.openxmlformats.org/drawingml/2006/main" noGrp="1"/>
          </p:cNvSpPr>
          <p:nvPr/>
        </p:nvSpPr>
        <p:spPr>
          <a:xfrm xmlns:a="http://schemas.openxmlformats.org/drawingml/2006/main">
            <a:off x="609600" y="27146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Movie and director selection uses a resolver join in this implementation.</a:t>
            </a:r>
          </a:p>
        </p:txBody>
      </p:sp>
      <p:sp>
        <p:nvSpPr>
          <p:cNvPr id="7" name="">
            <a:extLst xmlns:a="http://schemas.openxmlformats.org/drawingml/2006/main">
              <a:ext uri="{FF2B5EF4-FFF2-40B4-BE49-F238E27FC236}">
                <a16:creationId xmlns:a16="http://schemas.microsoft.com/office/drawing/2014/main" id="{DD1D050C-D624-4840-AAB0-D5C09F1C3016}"/>
              </a:ext>
            </a:extLst>
          </p:cNvPr>
          <p:cNvSpPr>
            <a:spLocks xmlns:a="http://schemas.openxmlformats.org/drawingml/2006/main" noGrp="1"/>
          </p:cNvSpPr>
          <p:nvPr/>
        </p:nvSpPr>
        <p:spPr>
          <a:xfrm xmlns:a="http://schemas.openxmlformats.org/drawingml/2006/main">
            <a:off x="609600" y="32766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Optional work stays explicit</a:t>
            </a:r>
          </a:p>
        </p:txBody>
      </p:sp>
      <p:sp>
        <p:nvSpPr>
          <p:cNvPr id="8" name="">
            <a:extLst xmlns:a="http://schemas.openxmlformats.org/drawingml/2006/main">
              <a:ext uri="{FF2B5EF4-FFF2-40B4-BE49-F238E27FC236}">
                <a16:creationId xmlns:a16="http://schemas.microsoft.com/office/drawing/2014/main" id="{79864355-1458-4245-940D-683859A2D356}"/>
              </a:ext>
            </a:extLst>
          </p:cNvPr>
          <p:cNvSpPr>
            <a:spLocks xmlns:a="http://schemas.openxmlformats.org/drawingml/2006/main" noGrp="1"/>
          </p:cNvSpPr>
          <p:nvPr/>
        </p:nvSpPr>
        <p:spPr>
          <a:xfrm xmlns:a="http://schemas.openxmlformats.org/drawingml/2006/main">
            <a:off x="609600" y="36290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totalCount runs only when selected, and clients control the response shape.</a:t>
            </a:r>
          </a:p>
        </p:txBody>
      </p:sp>
      <p:sp>
        <p:nvSpPr>
          <p:cNvPr id="9" name="">
            <a:extLst xmlns:a="http://schemas.openxmlformats.org/drawingml/2006/main">
              <a:ext uri="{FF2B5EF4-FFF2-40B4-BE49-F238E27FC236}">
                <a16:creationId xmlns:a16="http://schemas.microsoft.com/office/drawing/2014/main" id="{1F68BDBB-1024-4403-82E0-7B225A44BA96}"/>
              </a:ext>
            </a:extLst>
          </p:cNvPr>
          <p:cNvSpPr>
            <a:spLocks xmlns:a="http://schemas.openxmlformats.org/drawingml/2006/main" noGrp="1"/>
          </p:cNvSpPr>
          <p:nvPr/>
        </p:nvSpPr>
        <p:spPr>
          <a:xfrm xmlns:a="http://schemas.openxmlformats.org/drawingml/2006/main">
            <a:off x="609600" y="41910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Document complexity receives a budget</a:t>
            </a:r>
          </a:p>
        </p:txBody>
      </p:sp>
      <p:sp>
        <p:nvSpPr>
          <p:cNvPr id="10" name="">
            <a:extLst xmlns:a="http://schemas.openxmlformats.org/drawingml/2006/main">
              <a:ext uri="{FF2B5EF4-FFF2-40B4-BE49-F238E27FC236}">
                <a16:creationId xmlns:a16="http://schemas.microsoft.com/office/drawing/2014/main" id="{B48CC5D8-9828-4395-B86A-BE1943B70250}"/>
              </a:ext>
            </a:extLst>
          </p:cNvPr>
          <p:cNvSpPr>
            <a:spLocks xmlns:a="http://schemas.openxmlformats.org/drawingml/2006/main" noGrp="1"/>
          </p:cNvSpPr>
          <p:nvPr/>
        </p:nvSpPr>
        <p:spPr>
          <a:xfrm xmlns:a="http://schemas.openxmlformats.org/drawingml/2006/main">
            <a:off x="609600" y="45434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Depth and weighted complexity include aliases, fragments, and page size.</a:t>
            </a:r>
          </a:p>
        </p:txBody>
      </p:sp>
      <p:sp>
        <p:nvSpPr>
          <p:cNvPr id="11" name="">
            <a:extLst xmlns:a="http://schemas.openxmlformats.org/drawingml/2006/main">
              <a:ext uri="{FF2B5EF4-FFF2-40B4-BE49-F238E27FC236}">
                <a16:creationId xmlns:a16="http://schemas.microsoft.com/office/drawing/2014/main" id="{A5A8059D-8CDC-4094-9265-86C8ADC2654D}"/>
              </a:ext>
            </a:extLst>
          </p:cNvPr>
          <p:cNvSpPr>
            <a:spLocks xmlns:a="http://schemas.openxmlformats.org/drawingml/2006/main" noGrp="1"/>
          </p:cNvSpPr>
          <p:nvPr/>
        </p:nvSpPr>
        <p:spPr>
          <a:xfrm xmlns:a="http://schemas.openxmlformats.org/drawingml/2006/main">
            <a:off x="609600" y="51054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The same SQL safeguards apply</a:t>
            </a:r>
          </a:p>
        </p:txBody>
      </p:sp>
      <p:sp>
        <p:nvSpPr>
          <p:cNvPr id="12" name="">
            <a:extLst xmlns:a="http://schemas.openxmlformats.org/drawingml/2006/main">
              <a:ext uri="{FF2B5EF4-FFF2-40B4-BE49-F238E27FC236}">
                <a16:creationId xmlns:a16="http://schemas.microsoft.com/office/drawing/2014/main" id="{6B1BD345-F9ED-4446-8557-D0E0DA15C83B}"/>
              </a:ext>
            </a:extLst>
          </p:cNvPr>
          <p:cNvSpPr>
            <a:spLocks xmlns:a="http://schemas.openxmlformats.org/drawingml/2006/main" noGrp="1"/>
          </p:cNvSpPr>
          <p:nvPr/>
        </p:nvSpPr>
        <p:spPr>
          <a:xfrm xmlns:a="http://schemas.openxmlformats.org/drawingml/2006/main">
            <a:off x="609600" y="54578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Parameterized resolver SQL passes through the shared plan and timeout guard.</a:t>
            </a:r>
          </a:p>
        </p:txBody>
      </p:sp>
    </p:spTree>
    <p:extLst>
      <p:ext uri="{BB962C8B-B14F-4D97-AF65-F5344CB8AC3E}">
        <p14:creationId xmlns:p14="http://schemas.microsoft.com/office/powerpoint/2010/main" val="1376616189"/>
      </p:ext>
    </p:extLst>
  </p:cSld>
</p:sld>
</file>

<file path=ppt/slides/slide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5514DD-4B74-4BF7-B9FF-85FAE965FC10}"/>
              </a:ext>
            </a:extLst>
          </p:cNvPr>
          <p:cNvSpPr>
            <a:spLocks xmlns:a="http://schemas.openxmlformats.org/drawingml/2006/main" noGrp="1"/>
          </p:cNvSpPr>
          <p:nvPr/>
        </p:nvSpPr>
        <p:spPr>
          <a:xfrm xmlns:a="http://schemas.openxmlformats.org/drawingml/2006/main">
            <a:off x="609600" y="3810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03D"/>
                </a:solidFill>
                <a:latin typeface="Helvetica Neue"/>
                <a:ea typeface="Helvetica Neue"/>
                <a:cs typeface="Helvetica Neue"/>
              </a:defRPr>
            </a:pPr>
            <a:r>
              <a:rPr sz="3300" b="1">
                <a:solidFill>
                  <a:srgbClr val="18303D"/>
                </a:solidFill>
                <a:latin typeface="Helvetica Neue"/>
                <a:ea typeface="Helvetica Neue"/>
                <a:cs typeface="Helvetica Neue"/>
              </a:rPr>
              <a:t>Solution benefits and current boundaries</a:t>
            </a:r>
          </a:p>
        </p:txBody>
      </p:sp>
      <p:sp>
        <p:nvSpPr>
          <p:cNvPr id="2" name="">
            <a:extLst xmlns:a="http://schemas.openxmlformats.org/drawingml/2006/main">
              <a:ext uri="{FF2B5EF4-FFF2-40B4-BE49-F238E27FC236}">
                <a16:creationId xmlns:a16="http://schemas.microsoft.com/office/drawing/2014/main" id="{A7EFD525-1BBC-4075-8F83-53257D5D2F28}"/>
              </a:ext>
            </a:extLst>
          </p:cNvPr>
          <p:cNvSpPr>
            <a:spLocks xmlns:a="http://schemas.openxmlformats.org/drawingml/2006/main" noGrp="1"/>
          </p:cNvSpPr>
          <p:nvPr/>
        </p:nvSpPr>
        <p:spPr>
          <a:xfrm xmlns:a="http://schemas.openxmlformats.org/drawingml/2006/main">
            <a:off x="11144250"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6"/>
                </a:solidFill>
                <a:latin typeface="Helvetica Neue"/>
                <a:ea typeface="Helvetica Neue"/>
                <a:cs typeface="Helvetica Neue"/>
              </a:defRPr>
            </a:pPr>
            <a:r>
              <a:rPr sz="1350" b="0">
                <a:solidFill>
                  <a:srgbClr val="516776"/>
                </a:solidFill>
                <a:latin typeface="Helvetica Neue"/>
                <a:ea typeface="Helvetica Neue"/>
                <a:cs typeface="Helvetica Neue"/>
              </a:rPr>
              <a:t>8</a:t>
            </a:r>
          </a:p>
        </p:txBody>
      </p:sp>
      <p:sp>
        <p:nvSpPr>
          <p:cNvPr id="3" name="">
            <a:extLst xmlns:a="http://schemas.openxmlformats.org/drawingml/2006/main">
              <a:ext uri="{FF2B5EF4-FFF2-40B4-BE49-F238E27FC236}">
                <a16:creationId xmlns:a16="http://schemas.microsoft.com/office/drawing/2014/main" id="{791644DC-9A34-4836-A5CB-A61CE44037C8}"/>
              </a:ext>
            </a:extLst>
          </p:cNvPr>
          <p:cNvSpPr>
            <a:spLocks xmlns:a="http://schemas.openxmlformats.org/drawingml/2006/main" noGrp="1"/>
          </p:cNvSpPr>
          <p:nvPr/>
        </p:nvSpPr>
        <p:spPr>
          <a:xfrm xmlns:a="http://schemas.openxmlformats.org/drawingml/2006/main">
            <a:off x="609600" y="14954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87F83"/>
                </a:solidFill>
                <a:latin typeface="Helvetica Neue"/>
                <a:ea typeface="Helvetica Neue"/>
                <a:cs typeface="Helvetica Neue"/>
              </a:defRPr>
            </a:pPr>
            <a:r>
              <a:rPr sz="2475" b="1">
                <a:solidFill>
                  <a:srgbClr val="087F83"/>
                </a:solidFill>
                <a:latin typeface="Helvetica Neue"/>
                <a:ea typeface="Helvetica Neue"/>
                <a:cs typeface="Helvetica Neue"/>
              </a:rPr>
              <a:t>What the shared solution provides</a:t>
            </a:r>
          </a:p>
        </p:txBody>
      </p:sp>
      <p:sp>
        <p:nvSpPr>
          <p:cNvPr id="4" name="">
            <a:extLst xmlns:a="http://schemas.openxmlformats.org/drawingml/2006/main">
              <a:ext uri="{FF2B5EF4-FFF2-40B4-BE49-F238E27FC236}">
                <a16:creationId xmlns:a16="http://schemas.microsoft.com/office/drawing/2014/main" id="{6E3B8132-DE07-4147-B945-EE090E7EA322}"/>
              </a:ext>
            </a:extLst>
          </p:cNvPr>
          <p:cNvSpPr>
            <a:spLocks xmlns:a="http://schemas.openxmlformats.org/drawingml/2006/main" noGrp="1"/>
          </p:cNvSpPr>
          <p:nvPr/>
        </p:nvSpPr>
        <p:spPr>
          <a:xfrm xmlns:a="http://schemas.openxmlformats.org/drawingml/2006/main">
            <a:off x="609600" y="21812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Consistent decisions</a:t>
            </a:r>
          </a:p>
        </p:txBody>
      </p:sp>
      <p:sp>
        <p:nvSpPr>
          <p:cNvPr id="5" name="">
            <a:extLst xmlns:a="http://schemas.openxmlformats.org/drawingml/2006/main">
              <a:ext uri="{FF2B5EF4-FFF2-40B4-BE49-F238E27FC236}">
                <a16:creationId xmlns:a16="http://schemas.microsoft.com/office/drawing/2014/main" id="{44FD598D-84D8-4211-B003-E1AC1AAE09C2}"/>
              </a:ext>
            </a:extLst>
          </p:cNvPr>
          <p:cNvSpPr>
            <a:spLocks xmlns:a="http://schemas.openxmlformats.org/drawingml/2006/main" noGrp="1"/>
          </p:cNvSpPr>
          <p:nvPr/>
        </p:nvSpPr>
        <p:spPr>
          <a:xfrm xmlns:a="http://schemas.openxmlformats.org/drawingml/2006/main">
            <a:off x="609600" y="25336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Both protocols and all Java variants use the same core rules.</a:t>
            </a:r>
          </a:p>
        </p:txBody>
      </p:sp>
      <p:sp>
        <p:nvSpPr>
          <p:cNvPr id="6" name="">
            <a:extLst xmlns:a="http://schemas.openxmlformats.org/drawingml/2006/main">
              <a:ext uri="{FF2B5EF4-FFF2-40B4-BE49-F238E27FC236}">
                <a16:creationId xmlns:a16="http://schemas.microsoft.com/office/drawing/2014/main" id="{5EAFF9E8-FDBF-4554-920F-76B997D28848}"/>
              </a:ext>
            </a:extLst>
          </p:cNvPr>
          <p:cNvSpPr>
            <a:spLocks xmlns:a="http://schemas.openxmlformats.org/drawingml/2006/main" noGrp="1"/>
          </p:cNvSpPr>
          <p:nvPr/>
        </p:nvSpPr>
        <p:spPr>
          <a:xfrm xmlns:a="http://schemas.openxmlformats.org/drawingml/2006/main">
            <a:off x="609600" y="3048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Visible enforcement</a:t>
            </a:r>
          </a:p>
        </p:txBody>
      </p:sp>
      <p:sp>
        <p:nvSpPr>
          <p:cNvPr id="7" name="">
            <a:extLst xmlns:a="http://schemas.openxmlformats.org/drawingml/2006/main">
              <a:ext uri="{FF2B5EF4-FFF2-40B4-BE49-F238E27FC236}">
                <a16:creationId xmlns:a16="http://schemas.microsoft.com/office/drawing/2014/main" id="{41CF2792-4BC7-41EB-9846-9795EA7FDAA6}"/>
              </a:ext>
            </a:extLst>
          </p:cNvPr>
          <p:cNvSpPr>
            <a:spLocks xmlns:a="http://schemas.openxmlformats.org/drawingml/2006/main" noGrp="1"/>
          </p:cNvSpPr>
          <p:nvPr/>
        </p:nvSpPr>
        <p:spPr>
          <a:xfrm xmlns:a="http://schemas.openxmlformats.org/drawingml/2006/main">
            <a:off x="609600" y="34004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OFF, AUDIT, and ENFORCE expose plan decisions through request reports.</a:t>
            </a:r>
          </a:p>
        </p:txBody>
      </p:sp>
      <p:sp>
        <p:nvSpPr>
          <p:cNvPr id="8" name="">
            <a:extLst xmlns:a="http://schemas.openxmlformats.org/drawingml/2006/main">
              <a:ext uri="{FF2B5EF4-FFF2-40B4-BE49-F238E27FC236}">
                <a16:creationId xmlns:a16="http://schemas.microsoft.com/office/drawing/2014/main" id="{3146F091-0C24-4CD5-A519-CA59FF65EBD2}"/>
              </a:ext>
            </a:extLst>
          </p:cNvPr>
          <p:cNvSpPr>
            <a:spLocks xmlns:a="http://schemas.openxmlformats.org/drawingml/2006/main" noGrp="1"/>
          </p:cNvSpPr>
          <p:nvPr/>
        </p:nvSpPr>
        <p:spPr>
          <a:xfrm xmlns:a="http://schemas.openxmlformats.org/drawingml/2006/main">
            <a:off x="609600" y="39147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A concrete test surface</a:t>
            </a:r>
          </a:p>
        </p:txBody>
      </p:sp>
      <p:sp>
        <p:nvSpPr>
          <p:cNvPr id="9" name="">
            <a:extLst xmlns:a="http://schemas.openxmlformats.org/drawingml/2006/main">
              <a:ext uri="{FF2B5EF4-FFF2-40B4-BE49-F238E27FC236}">
                <a16:creationId xmlns:a16="http://schemas.microsoft.com/office/drawing/2014/main" id="{746BB5C0-A77D-4D4B-89D9-8D706E946F1D}"/>
              </a:ext>
            </a:extLst>
          </p:cNvPr>
          <p:cNvSpPr>
            <a:spLocks xmlns:a="http://schemas.openxmlformats.org/drawingml/2006/main" noGrp="1"/>
          </p:cNvSpPr>
          <p:nvPr/>
        </p:nvSpPr>
        <p:spPr>
          <a:xfrm xmlns:a="http://schemas.openxmlformats.org/drawingml/2006/main">
            <a:off x="609600" y="426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The UI compares selective queries, unindexed filters, and over-limit requests.</a:t>
            </a:r>
          </a:p>
        </p:txBody>
      </p:sp>
      <p:sp>
        <p:nvSpPr>
          <p:cNvPr id="10" name="">
            <a:extLst xmlns:a="http://schemas.openxmlformats.org/drawingml/2006/main">
              <a:ext uri="{FF2B5EF4-FFF2-40B4-BE49-F238E27FC236}">
                <a16:creationId xmlns:a16="http://schemas.microsoft.com/office/drawing/2014/main" id="{58E73AA2-8E21-458A-9CC7-E7CED60152D1}"/>
              </a:ext>
            </a:extLst>
          </p:cNvPr>
          <p:cNvSpPr>
            <a:spLocks xmlns:a="http://schemas.openxmlformats.org/drawingml/2006/main" noGrp="1"/>
          </p:cNvSpPr>
          <p:nvPr/>
        </p:nvSpPr>
        <p:spPr>
          <a:xfrm xmlns:a="http://schemas.openxmlformats.org/drawingml/2006/main">
            <a:off x="609600" y="4962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3"/>
                </a:solidFill>
                <a:latin typeface="Helvetica Neue"/>
                <a:ea typeface="Helvetica Neue"/>
                <a:cs typeface="Helvetica Neue"/>
              </a:defRPr>
            </a:pPr>
            <a:r>
              <a:rPr sz="2325" b="1">
                <a:solidFill>
                  <a:srgbClr val="087F83"/>
                </a:solidFill>
                <a:latin typeface="Helvetica Neue"/>
                <a:ea typeface="Helvetica Neue"/>
                <a:cs typeface="Helvetica Neue"/>
              </a:rPr>
              <a:t>Current boundaries</a:t>
            </a:r>
          </a:p>
        </p:txBody>
      </p:sp>
      <p:sp>
        <p:nvSpPr>
          <p:cNvPr id="11" name="">
            <a:extLst xmlns:a="http://schemas.openxmlformats.org/drawingml/2006/main">
              <a:ext uri="{FF2B5EF4-FFF2-40B4-BE49-F238E27FC236}">
                <a16:creationId xmlns:a16="http://schemas.microsoft.com/office/drawing/2014/main" id="{FF411DD3-C90F-4977-B5D2-4B168AC53F29}"/>
              </a:ext>
            </a:extLst>
          </p:cNvPr>
          <p:cNvSpPr>
            <a:spLocks xmlns:a="http://schemas.openxmlformats.org/drawingml/2006/main" noGrp="1"/>
          </p:cNvSpPr>
          <p:nvPr/>
        </p:nvSpPr>
        <p:spPr>
          <a:xfrm xmlns:a="http://schemas.openxmlformats.org/drawingml/2006/main">
            <a:off x="609600" y="54578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D"/>
                </a:solidFill>
                <a:latin typeface="Helvetica Neue"/>
                <a:ea typeface="Helvetica Neue"/>
                <a:cs typeface="Helvetica Neue"/>
              </a:defRPr>
            </a:pPr>
            <a:r>
              <a:rPr sz="1875" b="0">
                <a:solidFill>
                  <a:srgbClr val="18303D"/>
                </a:solidFill>
                <a:latin typeface="Helvetica Neue"/>
                <a:ea typeface="Helvetica Neue"/>
                <a:cs typeface="Helvetica Neue"/>
              </a:rPr>
              <a:t>EXPLAIN estimates do not guarantee latency. Authentication and tenant authorization need application integration. OData tokens and rate/report stores remain local to each process.</a:t>
            </a:r>
          </a:p>
        </p:txBody>
      </p:sp>
    </p:spTree>
    <p:extLst>
      <p:ext uri="{BB962C8B-B14F-4D97-AF65-F5344CB8AC3E}">
        <p14:creationId xmlns:p14="http://schemas.microsoft.com/office/powerpoint/2010/main" val="10071535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2026-10-07T18:44:47.9770000Z</dcterms:created>
  <dcterms:modified xsi:type="dcterms:W3CDTF">2026-10-07T18:44:47.9770000Z</dcterms:modified>
</coreProperties>
</file>